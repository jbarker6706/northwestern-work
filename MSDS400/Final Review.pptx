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63" r:id="rId4"/>
    <p:sldId id="264" r:id="rId5"/>
    <p:sldId id="265" r:id="rId6"/>
    <p:sldId id="266" r:id="rId7"/>
    <p:sldId id="267" r:id="rId8"/>
    <p:sldId id="268" r:id="rId9"/>
    <p:sldId id="270" r:id="rId10"/>
    <p:sldId id="269" r:id="rId11"/>
    <p:sldId id="271"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37"/>
  </p:normalViewPr>
  <p:slideViewPr>
    <p:cSldViewPr snapToGrid="0" snapToObjects="1">
      <p:cViewPr varScale="1">
        <p:scale>
          <a:sx n="88" d="100"/>
          <a:sy n="88" d="100"/>
        </p:scale>
        <p:origin x="184"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80BF-C999-C640-B72A-2A41E59E48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DF74DF-03A3-0440-B406-681B7D8ED3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8652A0-CB66-C745-BDEB-136EB0826126}"/>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A3740E52-8A2D-DD4A-9164-E1114BB520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96E9E7-9EC8-3E4D-AFDA-714A573CFC0C}"/>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2147572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FC26A-9BFC-B845-BDD1-2C90DDC33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F9E250-1215-FB48-BAFE-CD1D549F9C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905AA-9106-1C46-8C61-66A50581976D}"/>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A81C4ABE-A852-4040-883E-ADBC5EA3E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D6AB8-A7D7-1D49-84CD-BE67E1FE51F7}"/>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395370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CB35-8148-7B49-961D-000618F883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6C5A79-0FA7-1949-90CC-02F8BED487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347FF3-5C64-4A44-9054-E872865887C8}"/>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CEFBE538-25AD-CB40-80C6-EA2FB1D60D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BAC53A-39AF-2542-BD6F-F49F42E8CA71}"/>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135000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1215-9CE6-7B46-9C30-0BB3C74233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418510-B295-5444-8404-79078BE866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CC39E5-AC54-2542-925A-B7FBEB82A6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14BFB6-40E5-1748-BA0E-E86E092D7D29}"/>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6" name="Footer Placeholder 5">
            <a:extLst>
              <a:ext uri="{FF2B5EF4-FFF2-40B4-BE49-F238E27FC236}">
                <a16:creationId xmlns:a16="http://schemas.microsoft.com/office/drawing/2014/main" id="{4D9D6059-0EB5-DA4D-932E-F5008AF4EE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206EB9-CA91-8648-98C7-42027E7A6780}"/>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3620231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56CA-729E-9546-8622-FA271D48A2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14776F-2CA7-2246-923F-D30F6E9D4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D477E0-4940-1347-9C26-BCC62C7F61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F06972-3650-0A44-8FFD-75C34DDE54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F759AD-AA8A-3F45-93BD-8666B4CF35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C2A358-F1EA-6443-BA23-2E41E2F3F689}"/>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8" name="Footer Placeholder 7">
            <a:extLst>
              <a:ext uri="{FF2B5EF4-FFF2-40B4-BE49-F238E27FC236}">
                <a16:creationId xmlns:a16="http://schemas.microsoft.com/office/drawing/2014/main" id="{8E27B3B7-D091-AC44-856C-70C533240F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8383F4-6108-7041-81A8-251CACDD06B7}"/>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3369738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7CC4-EF8D-A149-9C9F-6A80B76844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08E20E-A2B5-2547-B195-EF59C2829BB8}"/>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4" name="Footer Placeholder 3">
            <a:extLst>
              <a:ext uri="{FF2B5EF4-FFF2-40B4-BE49-F238E27FC236}">
                <a16:creationId xmlns:a16="http://schemas.microsoft.com/office/drawing/2014/main" id="{68F37560-9494-AB4E-BA2F-415EDB4A5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AAF3D2-DAAB-BF47-9A9B-C9F7A61A047A}"/>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22602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4F5FF1-CCAE-1C45-BCAB-55F5049DF626}"/>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3" name="Footer Placeholder 2">
            <a:extLst>
              <a:ext uri="{FF2B5EF4-FFF2-40B4-BE49-F238E27FC236}">
                <a16:creationId xmlns:a16="http://schemas.microsoft.com/office/drawing/2014/main" id="{F1DFCFCB-ADCF-954D-85BA-74D05E2A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0589DB-B9E2-3B4C-9DE8-1C05B8E472CE}"/>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1217437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0C651-CB62-7149-8CF9-4D13C48CC9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63A98B-97A8-F74E-8D0B-4B04F640D4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086717-2889-A142-9188-BC075D3B22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C56B01-EA60-214E-965F-435079F50EB8}"/>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6" name="Footer Placeholder 5">
            <a:extLst>
              <a:ext uri="{FF2B5EF4-FFF2-40B4-BE49-F238E27FC236}">
                <a16:creationId xmlns:a16="http://schemas.microsoft.com/office/drawing/2014/main" id="{C1F0CFE8-CEB5-B440-B02B-5E7839A037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3A912C-17E9-724A-9694-01A9A04AE725}"/>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2194089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1A2B-8831-F244-A90A-DC79C0018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D39551-13A6-C743-81FB-00B027D96D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7C2DFB-27A0-F847-9349-2AFAA55593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825BE-8F78-434A-ABB6-FB382BB4508A}"/>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6" name="Footer Placeholder 5">
            <a:extLst>
              <a:ext uri="{FF2B5EF4-FFF2-40B4-BE49-F238E27FC236}">
                <a16:creationId xmlns:a16="http://schemas.microsoft.com/office/drawing/2014/main" id="{59045AE4-2011-A64A-8EF8-AFA770E2BD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2A3FB8-B7CB-A24C-B805-70A413FC0691}"/>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1028020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D4C0F-0A1C-D342-8D94-D2A0B12FE7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E6C078-BCD1-174B-A2AE-53FE52F8C1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C5412-AB58-E24F-A966-4B44C784DD84}"/>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5C59B6E8-0234-DF4F-A39F-B41C2611F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C6D60E-8AD4-EB49-AF46-B43693D3A326}"/>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3895950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AC378-9FC4-244F-AD38-ED11A33385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D18785-B493-844D-838B-422AE5697A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0BB8CA-ACFE-3A4E-B015-B83466171F46}"/>
              </a:ext>
            </a:extLst>
          </p:cNvPr>
          <p:cNvSpPr>
            <a:spLocks noGrp="1"/>
          </p:cNvSpPr>
          <p:nvPr>
            <p:ph type="dt" sz="half" idx="10"/>
          </p:nvPr>
        </p:nvSpPr>
        <p:spPr/>
        <p:txBody>
          <a:body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E0A36730-4123-0A4C-AAFB-05CB3BABE3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EDBD2-946B-1D4F-9C5E-7D5148F253AF}"/>
              </a:ext>
            </a:extLst>
          </p:cNvPr>
          <p:cNvSpPr>
            <a:spLocks noGrp="1"/>
          </p:cNvSpPr>
          <p:nvPr>
            <p:ph type="sldNum" sz="quarter" idx="12"/>
          </p:nvPr>
        </p:nvSpPr>
        <p:spPr/>
        <p:txBody>
          <a:bodyPr/>
          <a:lstStyle/>
          <a:p>
            <a:fld id="{E29B4240-23C2-F241-B0F5-BF6B8421CCB9}" type="slidenum">
              <a:rPr lang="en-US" smtClean="0"/>
              <a:t>‹#›</a:t>
            </a:fld>
            <a:endParaRPr lang="en-US"/>
          </a:p>
        </p:txBody>
      </p:sp>
    </p:spTree>
    <p:extLst>
      <p:ext uri="{BB962C8B-B14F-4D97-AF65-F5344CB8AC3E}">
        <p14:creationId xmlns:p14="http://schemas.microsoft.com/office/powerpoint/2010/main" val="37162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7C7FC-CD11-114A-8751-889D8BDF95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9A9AC2-9565-4844-AA88-92BEAB92E6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4F560-A288-ED4A-BBF7-6240A0C0D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092AB-18E3-704F-BE37-F1E853FC304B}" type="datetimeFigureOut">
              <a:rPr lang="en-US" smtClean="0"/>
              <a:t>3/4/19</a:t>
            </a:fld>
            <a:endParaRPr lang="en-US"/>
          </a:p>
        </p:txBody>
      </p:sp>
      <p:sp>
        <p:nvSpPr>
          <p:cNvPr id="5" name="Footer Placeholder 4">
            <a:extLst>
              <a:ext uri="{FF2B5EF4-FFF2-40B4-BE49-F238E27FC236}">
                <a16:creationId xmlns:a16="http://schemas.microsoft.com/office/drawing/2014/main" id="{F4B5B383-E614-7F45-853B-4AFF7DDB0D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39D41BB-2C2E-2A46-A60C-29713F5979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B4240-23C2-F241-B0F5-BF6B8421CCB9}" type="slidenum">
              <a:rPr lang="en-US" smtClean="0"/>
              <a:t>‹#›</a:t>
            </a:fld>
            <a:endParaRPr lang="en-US"/>
          </a:p>
        </p:txBody>
      </p:sp>
    </p:spTree>
    <p:extLst>
      <p:ext uri="{BB962C8B-B14F-4D97-AF65-F5344CB8AC3E}">
        <p14:creationId xmlns:p14="http://schemas.microsoft.com/office/powerpoint/2010/main" val="4003456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994D4-9AD4-D848-8B44-54FE30849ADA}"/>
              </a:ext>
            </a:extLst>
          </p:cNvPr>
          <p:cNvSpPr>
            <a:spLocks noGrp="1"/>
          </p:cNvSpPr>
          <p:nvPr>
            <p:ph type="ctrTitle"/>
          </p:nvPr>
        </p:nvSpPr>
        <p:spPr/>
        <p:txBody>
          <a:bodyPr/>
          <a:lstStyle/>
          <a:p>
            <a:r>
              <a:rPr lang="en-US" dirty="0"/>
              <a:t>Final Exam Review</a:t>
            </a:r>
          </a:p>
        </p:txBody>
      </p:sp>
    </p:spTree>
    <p:extLst>
      <p:ext uri="{BB962C8B-B14F-4D97-AF65-F5344CB8AC3E}">
        <p14:creationId xmlns:p14="http://schemas.microsoft.com/office/powerpoint/2010/main" val="2999894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DF1D-CE3D-D047-B3F0-23692E4C72FB}"/>
              </a:ext>
            </a:extLst>
          </p:cNvPr>
          <p:cNvSpPr>
            <a:spLocks noGrp="1"/>
          </p:cNvSpPr>
          <p:nvPr>
            <p:ph type="title"/>
          </p:nvPr>
        </p:nvSpPr>
        <p:spPr>
          <a:xfrm>
            <a:off x="838200" y="365126"/>
            <a:ext cx="10515600" cy="1521732"/>
          </a:xfrm>
        </p:spPr>
        <p:txBody>
          <a:bodyPr>
            <a:normAutofit/>
          </a:bodyPr>
          <a:lstStyle/>
          <a:p>
            <a:r>
              <a:rPr lang="en-US" sz="1800" dirty="0">
                <a:latin typeface="+mn-lt"/>
              </a:rPr>
              <a:t>The manager of a restaurant found that the cost to produce 100 cups of coffee is $11.12 , while the cost to produce 500 cups is $50.32. The restaurant sells sells each cup of coffee for $1.50.</a:t>
            </a:r>
            <a:br>
              <a:rPr lang="en-US" sz="1800" dirty="0">
                <a:latin typeface="+mn-lt"/>
              </a:rPr>
            </a:br>
            <a:r>
              <a:rPr lang="en-US" sz="1800" dirty="0">
                <a:latin typeface="+mn-lt"/>
              </a:rPr>
              <a:t>a. Find a formula for the linear cost function, C(x).</a:t>
            </a:r>
            <a:br>
              <a:rPr lang="en-US" sz="1800" dirty="0">
                <a:latin typeface="+mn-lt"/>
              </a:rPr>
            </a:br>
            <a:r>
              <a:rPr lang="en-US" sz="1800" dirty="0">
                <a:latin typeface="+mn-lt"/>
              </a:rPr>
              <a:t>b. How many cups must be sold to break even?</a:t>
            </a:r>
            <a:br>
              <a:rPr lang="en-US" sz="1800" dirty="0">
                <a:latin typeface="+mn-lt"/>
              </a:rPr>
            </a:br>
            <a:r>
              <a:rPr lang="en-US" sz="1800" dirty="0">
                <a:latin typeface="+mn-lt"/>
              </a:rPr>
              <a:t>c. How many cups of coffee must be sold to make a profit of $500?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17CC40-7259-C044-8E68-42A39FFB4ED2}"/>
                  </a:ext>
                </a:extLst>
              </p:cNvPr>
              <p:cNvSpPr>
                <a:spLocks noGrp="1"/>
              </p:cNvSpPr>
              <p:nvPr>
                <p:ph idx="1"/>
              </p:nvPr>
            </p:nvSpPr>
            <p:spPr>
              <a:xfrm>
                <a:off x="838200" y="1886858"/>
                <a:ext cx="10515600" cy="4290103"/>
              </a:xfrm>
            </p:spPr>
            <p:txBody>
              <a:bodyPr>
                <a:normAutofit/>
              </a:bodyPr>
              <a:lstStyle/>
              <a:p>
                <a:r>
                  <a:rPr lang="en-US" sz="1800" dirty="0">
                    <a:latin typeface="+mj-lt"/>
                  </a:rPr>
                  <a:t>Use the points (100, 11.12) and (500, 50.32) to determine the slope.</a:t>
                </a:r>
              </a:p>
              <a:p>
                <a:pPr marL="0" indent="0">
                  <a:buNone/>
                </a:pPr>
                <a:endParaRPr lang="en-US" sz="1800" dirty="0">
                  <a:latin typeface="+mj-lt"/>
                </a:endParaRP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50.32−11.12</m:t>
                          </m:r>
                        </m:num>
                        <m:den>
                          <m:r>
                            <a:rPr lang="en-US" sz="1800" b="0" i="1" smtClean="0">
                              <a:latin typeface="Cambria Math" panose="02040503050406030204" pitchFamily="18" charset="0"/>
                            </a:rPr>
                            <m:t>500−100</m:t>
                          </m:r>
                        </m:den>
                      </m:f>
                      <m:r>
                        <a:rPr lang="en-US" sz="1800" b="0" i="1" smtClean="0">
                          <a:latin typeface="Cambria Math" panose="02040503050406030204" pitchFamily="18" charset="0"/>
                        </a:rPr>
                        <m:t>=0.098</m:t>
                      </m:r>
                    </m:oMath>
                  </m:oMathPara>
                </a14:m>
                <a:endParaRPr lang="en-US" sz="1800" b="0" dirty="0">
                  <a:latin typeface="+mj-lt"/>
                </a:endParaRPr>
              </a:p>
              <a:p>
                <a:r>
                  <a:rPr lang="en-US" sz="1800" dirty="0">
                    <a:latin typeface="+mj-lt"/>
                  </a:rPr>
                  <a:t>C(x) = 0.098x + b.</a:t>
                </a:r>
              </a:p>
              <a:p>
                <a:r>
                  <a:rPr lang="en-US" sz="1800" dirty="0">
                    <a:latin typeface="+mj-lt"/>
                  </a:rPr>
                  <a:t>To determine b, use either point and solve for b.</a:t>
                </a:r>
              </a:p>
              <a:p>
                <a:r>
                  <a:rPr lang="en-US" sz="1800" dirty="0">
                    <a:latin typeface="+mj-lt"/>
                  </a:rPr>
                  <a:t>11.12 = 0.098(100) + b</a:t>
                </a:r>
              </a:p>
              <a:p>
                <a:r>
                  <a:rPr lang="en-US" sz="1800" dirty="0">
                    <a:latin typeface="+mj-lt"/>
                  </a:rPr>
                  <a:t>b = 1.32</a:t>
                </a:r>
              </a:p>
              <a:p>
                <a:r>
                  <a:rPr lang="en-US" sz="1800" dirty="0">
                    <a:latin typeface="+mj-lt"/>
                  </a:rPr>
                  <a:t>The cost function is C(x) = 0.098x + 1.32</a:t>
                </a:r>
              </a:p>
              <a:p>
                <a:endParaRPr lang="en-US" sz="1800" dirty="0">
                  <a:latin typeface="+mj-lt"/>
                </a:endParaRPr>
              </a:p>
            </p:txBody>
          </p:sp>
        </mc:Choice>
        <mc:Fallback xmlns="">
          <p:sp>
            <p:nvSpPr>
              <p:cNvPr id="3" name="Content Placeholder 2">
                <a:extLst>
                  <a:ext uri="{FF2B5EF4-FFF2-40B4-BE49-F238E27FC236}">
                    <a16:creationId xmlns:a16="http://schemas.microsoft.com/office/drawing/2014/main" id="{7D17CC40-7259-C044-8E68-42A39FFB4ED2}"/>
                  </a:ext>
                </a:extLst>
              </p:cNvPr>
              <p:cNvSpPr>
                <a:spLocks noGrp="1" noRot="1" noChangeAspect="1" noMove="1" noResize="1" noEditPoints="1" noAdjustHandles="1" noChangeArrowheads="1" noChangeShapeType="1" noTextEdit="1"/>
              </p:cNvSpPr>
              <p:nvPr>
                <p:ph idx="1"/>
              </p:nvPr>
            </p:nvSpPr>
            <p:spPr>
              <a:xfrm>
                <a:off x="838200" y="1886858"/>
                <a:ext cx="10515600" cy="4290103"/>
              </a:xfrm>
              <a:blipFill>
                <a:blip r:embed="rId2"/>
                <a:stretch>
                  <a:fillRect l="-362" t="-1183"/>
                </a:stretch>
              </a:blipFill>
            </p:spPr>
            <p:txBody>
              <a:bodyPr/>
              <a:lstStyle/>
              <a:p>
                <a:r>
                  <a:rPr lang="en-US">
                    <a:noFill/>
                  </a:rPr>
                  <a:t> </a:t>
                </a:r>
              </a:p>
            </p:txBody>
          </p:sp>
        </mc:Fallback>
      </mc:AlternateContent>
    </p:spTree>
    <p:extLst>
      <p:ext uri="{BB962C8B-B14F-4D97-AF65-F5344CB8AC3E}">
        <p14:creationId xmlns:p14="http://schemas.microsoft.com/office/powerpoint/2010/main" val="235984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DF1D-CE3D-D047-B3F0-23692E4C72FB}"/>
              </a:ext>
            </a:extLst>
          </p:cNvPr>
          <p:cNvSpPr>
            <a:spLocks noGrp="1"/>
          </p:cNvSpPr>
          <p:nvPr>
            <p:ph type="title"/>
          </p:nvPr>
        </p:nvSpPr>
        <p:spPr>
          <a:xfrm>
            <a:off x="838200" y="365126"/>
            <a:ext cx="10515600" cy="1521732"/>
          </a:xfrm>
        </p:spPr>
        <p:txBody>
          <a:bodyPr>
            <a:normAutofit/>
          </a:bodyPr>
          <a:lstStyle/>
          <a:p>
            <a:r>
              <a:rPr lang="en-US" sz="1800" dirty="0">
                <a:latin typeface="+mn-lt"/>
              </a:rPr>
              <a:t>The manager of a restaurant found that the cost to produce 100 cups of coffee is $11.12 , while the cost to produce 500 cups is $50.32. The restaurant sells sells each cup of coffee for $1.50.</a:t>
            </a:r>
            <a:br>
              <a:rPr lang="en-US" sz="1800" dirty="0">
                <a:latin typeface="+mn-lt"/>
              </a:rPr>
            </a:br>
            <a:r>
              <a:rPr lang="en-US" sz="1800" dirty="0">
                <a:latin typeface="+mn-lt"/>
              </a:rPr>
              <a:t>a. Find a formula for the linear cost function, C(x).</a:t>
            </a:r>
            <a:br>
              <a:rPr lang="en-US" sz="1800" dirty="0">
                <a:latin typeface="+mn-lt"/>
              </a:rPr>
            </a:br>
            <a:r>
              <a:rPr lang="en-US" sz="1800" dirty="0">
                <a:latin typeface="+mn-lt"/>
              </a:rPr>
              <a:t>b. How many cups must be sold to break even?</a:t>
            </a:r>
            <a:br>
              <a:rPr lang="en-US" sz="1800" dirty="0">
                <a:latin typeface="+mn-lt"/>
              </a:rPr>
            </a:br>
            <a:r>
              <a:rPr lang="en-US" sz="1800" dirty="0">
                <a:latin typeface="+mn-lt"/>
              </a:rPr>
              <a:t>c. How many cups of coffee must be sold to make a profit of $500?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17CC40-7259-C044-8E68-42A39FFB4ED2}"/>
                  </a:ext>
                </a:extLst>
              </p:cNvPr>
              <p:cNvSpPr>
                <a:spLocks noGrp="1"/>
              </p:cNvSpPr>
              <p:nvPr>
                <p:ph idx="1"/>
              </p:nvPr>
            </p:nvSpPr>
            <p:spPr>
              <a:xfrm>
                <a:off x="838200" y="1886858"/>
                <a:ext cx="10515600" cy="4290103"/>
              </a:xfrm>
            </p:spPr>
            <p:txBody>
              <a:bodyPr>
                <a:normAutofit/>
              </a:bodyPr>
              <a:lstStyle/>
              <a:p>
                <a:endParaRPr lang="en-US" sz="1800" dirty="0">
                  <a:latin typeface="+mj-lt"/>
                </a:endParaRPr>
              </a:p>
              <a:p>
                <a:r>
                  <a:rPr lang="en-US" sz="1800" dirty="0">
                    <a:latin typeface="+mj-lt"/>
                  </a:rPr>
                  <a:t>Since </a:t>
                </a:r>
                <a:r>
                  <a:rPr lang="en-US" sz="1800" dirty="0">
                    <a:solidFill>
                      <a:prstClr val="black"/>
                    </a:solidFill>
                    <a:latin typeface="Calibri Light" panose="020F0302020204030204"/>
                  </a:rPr>
                  <a:t>C(x) = 0.098x + 1.32 and R(x) = 1.5x, set these equal to each other and solve for x.</a:t>
                </a:r>
              </a:p>
              <a:p>
                <a:r>
                  <a:rPr lang="en-US" sz="1800" dirty="0">
                    <a:solidFill>
                      <a:prstClr val="black"/>
                    </a:solidFill>
                    <a:latin typeface="Calibri Light" panose="020F0302020204030204"/>
                  </a:rPr>
                  <a:t>1.5x = 0.098x + 1.32</a:t>
                </a:r>
              </a:p>
              <a:p>
                <a:r>
                  <a:rPr lang="en-US" sz="1800" dirty="0">
                    <a:solidFill>
                      <a:prstClr val="black"/>
                    </a:solidFill>
                    <a:latin typeface="Calibri Light" panose="020F0302020204030204"/>
                  </a:rPr>
                  <a:t>x </a:t>
                </a:r>
                <a14:m>
                  <m:oMath xmlns:m="http://schemas.openxmlformats.org/officeDocument/2006/math">
                    <m:r>
                      <a:rPr lang="en-US" sz="1800" i="1" smtClean="0">
                        <a:solidFill>
                          <a:prstClr val="black"/>
                        </a:solidFill>
                        <a:latin typeface="Cambria Math" panose="02040503050406030204" pitchFamily="18" charset="0"/>
                        <a:ea typeface="Cambria Math" panose="02040503050406030204" pitchFamily="18" charset="0"/>
                      </a:rPr>
                      <m:t>≈</m:t>
                    </m:r>
                  </m:oMath>
                </a14:m>
                <a:r>
                  <a:rPr lang="en-US" sz="1800" dirty="0">
                    <a:latin typeface="+mj-lt"/>
                  </a:rPr>
                  <a:t> 0.942</a:t>
                </a:r>
              </a:p>
              <a:p>
                <a:r>
                  <a:rPr lang="en-US" sz="1800" dirty="0">
                    <a:latin typeface="+mj-lt"/>
                  </a:rPr>
                  <a:t>The restaurant will break even at x = 1, or 1 cup of coffee.</a:t>
                </a:r>
              </a:p>
              <a:p>
                <a:endParaRPr lang="en-US" sz="1800" dirty="0">
                  <a:latin typeface="+mj-lt"/>
                </a:endParaRPr>
              </a:p>
            </p:txBody>
          </p:sp>
        </mc:Choice>
        <mc:Fallback xmlns="">
          <p:sp>
            <p:nvSpPr>
              <p:cNvPr id="3" name="Content Placeholder 2">
                <a:extLst>
                  <a:ext uri="{FF2B5EF4-FFF2-40B4-BE49-F238E27FC236}">
                    <a16:creationId xmlns:a16="http://schemas.microsoft.com/office/drawing/2014/main" id="{7D17CC40-7259-C044-8E68-42A39FFB4ED2}"/>
                  </a:ext>
                </a:extLst>
              </p:cNvPr>
              <p:cNvSpPr>
                <a:spLocks noGrp="1" noRot="1" noChangeAspect="1" noMove="1" noResize="1" noEditPoints="1" noAdjustHandles="1" noChangeArrowheads="1" noChangeShapeType="1" noTextEdit="1"/>
              </p:cNvSpPr>
              <p:nvPr>
                <p:ph idx="1"/>
              </p:nvPr>
            </p:nvSpPr>
            <p:spPr>
              <a:xfrm>
                <a:off x="838200" y="1886858"/>
                <a:ext cx="10515600" cy="4290103"/>
              </a:xfrm>
              <a:blipFill>
                <a:blip r:embed="rId2"/>
                <a:stretch>
                  <a:fillRect l="-362"/>
                </a:stretch>
              </a:blipFill>
            </p:spPr>
            <p:txBody>
              <a:bodyPr/>
              <a:lstStyle/>
              <a:p>
                <a:r>
                  <a:rPr lang="en-US">
                    <a:noFill/>
                  </a:rPr>
                  <a:t> </a:t>
                </a:r>
              </a:p>
            </p:txBody>
          </p:sp>
        </mc:Fallback>
      </mc:AlternateContent>
    </p:spTree>
    <p:extLst>
      <p:ext uri="{BB962C8B-B14F-4D97-AF65-F5344CB8AC3E}">
        <p14:creationId xmlns:p14="http://schemas.microsoft.com/office/powerpoint/2010/main" val="66231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DF1D-CE3D-D047-B3F0-23692E4C72FB}"/>
              </a:ext>
            </a:extLst>
          </p:cNvPr>
          <p:cNvSpPr>
            <a:spLocks noGrp="1"/>
          </p:cNvSpPr>
          <p:nvPr>
            <p:ph type="title"/>
          </p:nvPr>
        </p:nvSpPr>
        <p:spPr>
          <a:xfrm>
            <a:off x="838200" y="365126"/>
            <a:ext cx="10515600" cy="1521732"/>
          </a:xfrm>
        </p:spPr>
        <p:txBody>
          <a:bodyPr>
            <a:normAutofit/>
          </a:bodyPr>
          <a:lstStyle/>
          <a:p>
            <a:r>
              <a:rPr lang="en-US" sz="1800" dirty="0">
                <a:latin typeface="+mn-lt"/>
              </a:rPr>
              <a:t>The manager of a restaurant found that the cost to produce 100 cups of coffee is $11.12 , while the cost to produce 500 cups is $50.32. The restaurant sells sells each cup of coffee for $1.50.</a:t>
            </a:r>
            <a:br>
              <a:rPr lang="en-US" sz="1800" dirty="0">
                <a:latin typeface="+mn-lt"/>
              </a:rPr>
            </a:br>
            <a:r>
              <a:rPr lang="en-US" sz="1800" dirty="0">
                <a:latin typeface="+mn-lt"/>
              </a:rPr>
              <a:t>a. Find a formula for the linear cost function, C(x).</a:t>
            </a:r>
            <a:br>
              <a:rPr lang="en-US" sz="1800" dirty="0">
                <a:latin typeface="+mn-lt"/>
              </a:rPr>
            </a:br>
            <a:r>
              <a:rPr lang="en-US" sz="1800" dirty="0">
                <a:latin typeface="+mn-lt"/>
              </a:rPr>
              <a:t>b. How many cups must be sold to break even?</a:t>
            </a:r>
            <a:br>
              <a:rPr lang="en-US" sz="1800" dirty="0">
                <a:latin typeface="+mn-lt"/>
              </a:rPr>
            </a:br>
            <a:r>
              <a:rPr lang="en-US" sz="1800" dirty="0">
                <a:latin typeface="+mn-lt"/>
              </a:rPr>
              <a:t>c. How many cups of coffee must be sold to make a profit of $500?</a:t>
            </a:r>
          </a:p>
        </p:txBody>
      </p:sp>
      <p:sp>
        <p:nvSpPr>
          <p:cNvPr id="3" name="Content Placeholder 2">
            <a:extLst>
              <a:ext uri="{FF2B5EF4-FFF2-40B4-BE49-F238E27FC236}">
                <a16:creationId xmlns:a16="http://schemas.microsoft.com/office/drawing/2014/main" id="{7D17CC40-7259-C044-8E68-42A39FFB4ED2}"/>
              </a:ext>
            </a:extLst>
          </p:cNvPr>
          <p:cNvSpPr>
            <a:spLocks noGrp="1"/>
          </p:cNvSpPr>
          <p:nvPr>
            <p:ph idx="1"/>
          </p:nvPr>
        </p:nvSpPr>
        <p:spPr>
          <a:xfrm>
            <a:off x="838200" y="1886858"/>
            <a:ext cx="10515600" cy="4290103"/>
          </a:xfrm>
        </p:spPr>
        <p:txBody>
          <a:bodyPr>
            <a:normAutofit/>
          </a:bodyPr>
          <a:lstStyle/>
          <a:p>
            <a:endParaRPr lang="en-US" sz="1800" dirty="0">
              <a:latin typeface="+mj-lt"/>
            </a:endParaRPr>
          </a:p>
          <a:p>
            <a:r>
              <a:rPr lang="en-US" sz="1800" dirty="0">
                <a:latin typeface="+mj-lt"/>
              </a:rPr>
              <a:t>To determine how many must be sold to make $500 profit, we first determine the profit function.</a:t>
            </a:r>
          </a:p>
          <a:p>
            <a:r>
              <a:rPr lang="en-US" sz="1800" dirty="0">
                <a:latin typeface="+mj-lt"/>
              </a:rPr>
              <a:t>P(x) = R(x) - C(x) = 1.5x – (0.098x + 1.32) = 1.402x – 1.32.</a:t>
            </a:r>
          </a:p>
          <a:p>
            <a:r>
              <a:rPr lang="en-US" sz="1800" dirty="0">
                <a:latin typeface="+mj-lt"/>
              </a:rPr>
              <a:t>Now set P(x) = 500 and solve for x.</a:t>
            </a:r>
          </a:p>
          <a:p>
            <a:r>
              <a:rPr lang="en-US" sz="1800" dirty="0">
                <a:latin typeface="+mj-lt"/>
              </a:rPr>
              <a:t>1.402x – 1.32 = 500</a:t>
            </a:r>
          </a:p>
          <a:p>
            <a:r>
              <a:rPr lang="en-US" sz="1800" dirty="0">
                <a:latin typeface="+mj-lt"/>
              </a:rPr>
              <a:t>x = 357.57</a:t>
            </a:r>
          </a:p>
          <a:p>
            <a:r>
              <a:rPr lang="en-US" sz="1800" dirty="0">
                <a:latin typeface="+mj-lt"/>
              </a:rPr>
              <a:t>The restaurant needs to sell 358 cups of coffee to make $500 profit.</a:t>
            </a:r>
          </a:p>
        </p:txBody>
      </p:sp>
    </p:spTree>
    <p:extLst>
      <p:ext uri="{BB962C8B-B14F-4D97-AF65-F5344CB8AC3E}">
        <p14:creationId xmlns:p14="http://schemas.microsoft.com/office/powerpoint/2010/main" val="2850547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88AB-B789-BC4B-B66D-8C6590A99908}"/>
              </a:ext>
            </a:extLst>
          </p:cNvPr>
          <p:cNvSpPr>
            <a:spLocks noGrp="1"/>
          </p:cNvSpPr>
          <p:nvPr>
            <p:ph type="title"/>
          </p:nvPr>
        </p:nvSpPr>
        <p:spPr/>
        <p:txBody>
          <a:bodyPr>
            <a:normAutofit/>
          </a:bodyPr>
          <a:lstStyle/>
          <a:p>
            <a:r>
              <a:rPr lang="en-US" sz="1600" dirty="0"/>
              <a:t>An investment of $77,000 was made by a business club. The investment was split into three parts and lasted for one year.</a:t>
            </a:r>
            <a:br>
              <a:rPr lang="en-US" sz="1600" dirty="0"/>
            </a:br>
            <a:r>
              <a:rPr lang="en-US" sz="1600" dirty="0"/>
              <a:t>The first part of the investment earned 8% interest, the second 6%, and the third 9%. Total interest from the investments</a:t>
            </a:r>
            <a:br>
              <a:rPr lang="en-US" sz="1600" dirty="0"/>
            </a:br>
            <a:r>
              <a:rPr lang="en-US" sz="1600" dirty="0"/>
              <a:t>was $5,850. The interest from the first investment was 4 times the interest from the second. Find the amounts of the three</a:t>
            </a:r>
            <a:br>
              <a:rPr lang="en-US" sz="1600" dirty="0"/>
            </a:br>
            <a:r>
              <a:rPr lang="en-US" sz="1600" dirty="0"/>
              <a:t>parts of the investment.</a:t>
            </a:r>
          </a:p>
        </p:txBody>
      </p:sp>
      <p:sp>
        <p:nvSpPr>
          <p:cNvPr id="3" name="TextBox 2">
            <a:extLst>
              <a:ext uri="{FF2B5EF4-FFF2-40B4-BE49-F238E27FC236}">
                <a16:creationId xmlns:a16="http://schemas.microsoft.com/office/drawing/2014/main" id="{B69A7770-90E5-554D-AEF7-B975BB7F7AC7}"/>
              </a:ext>
            </a:extLst>
          </p:cNvPr>
          <p:cNvSpPr txBox="1"/>
          <p:nvPr/>
        </p:nvSpPr>
        <p:spPr>
          <a:xfrm>
            <a:off x="838200" y="1690688"/>
            <a:ext cx="9170773" cy="307777"/>
          </a:xfrm>
          <a:prstGeom prst="rect">
            <a:avLst/>
          </a:prstGeom>
          <a:noFill/>
        </p:spPr>
        <p:txBody>
          <a:bodyPr wrap="square" rtlCol="0">
            <a:spAutoFit/>
          </a:bodyPr>
          <a:lstStyle/>
          <a:p>
            <a:r>
              <a:rPr lang="en-US" sz="1400" dirty="0"/>
              <a:t>Let x = the amount in the 1</a:t>
            </a:r>
            <a:r>
              <a:rPr lang="en-US" sz="1400" baseline="30000" dirty="0"/>
              <a:t>st</a:t>
            </a:r>
            <a:r>
              <a:rPr lang="en-US" sz="1400" dirty="0"/>
              <a:t> investment, y = the amount in the 2</a:t>
            </a:r>
            <a:r>
              <a:rPr lang="en-US" sz="1400" baseline="30000" dirty="0"/>
              <a:t>nd</a:t>
            </a:r>
            <a:r>
              <a:rPr lang="en-US" sz="1400" dirty="0"/>
              <a:t> investment, and z = the amount in the 3</a:t>
            </a:r>
            <a:r>
              <a:rPr lang="en-US" sz="1400" baseline="30000" dirty="0"/>
              <a:t>rd</a:t>
            </a:r>
            <a:r>
              <a:rPr lang="en-US" sz="1400" dirty="0"/>
              <a:t> investment.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EFB402E-CDE0-974F-8A99-094BE95F90DC}"/>
                  </a:ext>
                </a:extLst>
              </p:cNvPr>
              <p:cNvSpPr txBox="1"/>
              <p:nvPr/>
            </p:nvSpPr>
            <p:spPr>
              <a:xfrm>
                <a:off x="4100383" y="2277587"/>
                <a:ext cx="2646405"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𝑧</m:t>
                      </m:r>
                      <m:r>
                        <a:rPr lang="en-US" sz="1400" b="0" i="1" smtClean="0">
                          <a:latin typeface="Cambria Math" panose="02040503050406030204" pitchFamily="18" charset="0"/>
                        </a:rPr>
                        <m:t>=77000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0.08</m:t>
                      </m:r>
                      <m:r>
                        <a:rPr lang="en-US" sz="1400" b="0" i="1" smtClean="0">
                          <a:latin typeface="Cambria Math" panose="02040503050406030204" pitchFamily="18" charset="0"/>
                        </a:rPr>
                        <m:t>𝑥</m:t>
                      </m:r>
                      <m:r>
                        <a:rPr lang="en-US" sz="1400" b="0" i="1" smtClean="0">
                          <a:latin typeface="Cambria Math" panose="02040503050406030204" pitchFamily="18" charset="0"/>
                        </a:rPr>
                        <m:t>+0.06</m:t>
                      </m:r>
                      <m:r>
                        <a:rPr lang="en-US" sz="1400" b="0" i="1" smtClean="0">
                          <a:latin typeface="Cambria Math" panose="02040503050406030204" pitchFamily="18" charset="0"/>
                        </a:rPr>
                        <m:t>𝑦</m:t>
                      </m:r>
                      <m:r>
                        <a:rPr lang="en-US" sz="1400" b="0" i="1" smtClean="0">
                          <a:latin typeface="Cambria Math" panose="02040503050406030204" pitchFamily="18" charset="0"/>
                        </a:rPr>
                        <m:t>+0.09</m:t>
                      </m:r>
                      <m:r>
                        <a:rPr lang="en-US" sz="1400" b="0" i="1" smtClean="0">
                          <a:latin typeface="Cambria Math" panose="02040503050406030204" pitchFamily="18" charset="0"/>
                        </a:rPr>
                        <m:t>𝑧</m:t>
                      </m:r>
                      <m:r>
                        <a:rPr lang="en-US" sz="1400" b="0" i="1" smtClean="0">
                          <a:latin typeface="Cambria Math" panose="02040503050406030204" pitchFamily="18" charset="0"/>
                        </a:rPr>
                        <m:t>=5850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0.08</m:t>
                      </m:r>
                      <m:r>
                        <a:rPr lang="en-US" sz="1400" b="0" i="1" smtClean="0">
                          <a:latin typeface="Cambria Math" panose="02040503050406030204" pitchFamily="18" charset="0"/>
                        </a:rPr>
                        <m:t>𝑥</m:t>
                      </m:r>
                      <m:r>
                        <a:rPr lang="en-US" sz="1400" b="0" i="1" smtClean="0">
                          <a:latin typeface="Cambria Math" panose="02040503050406030204" pitchFamily="18" charset="0"/>
                        </a:rPr>
                        <m:t>=4</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0.06</m:t>
                          </m:r>
                        </m:e>
                      </m:d>
                      <m:r>
                        <a:rPr lang="en-US" sz="1400" b="0" i="1" smtClean="0">
                          <a:latin typeface="Cambria Math" panose="02040503050406030204" pitchFamily="18" charset="0"/>
                        </a:rPr>
                        <m:t>𝑦</m:t>
                      </m:r>
                    </m:oMath>
                  </m:oMathPara>
                </a14:m>
                <a:endParaRPr lang="en-US" sz="1400" dirty="0"/>
              </a:p>
            </p:txBody>
          </p:sp>
        </mc:Choice>
        <mc:Fallback xmlns="">
          <p:sp>
            <p:nvSpPr>
              <p:cNvPr id="4" name="TextBox 3">
                <a:extLst>
                  <a:ext uri="{FF2B5EF4-FFF2-40B4-BE49-F238E27FC236}">
                    <a16:creationId xmlns:a16="http://schemas.microsoft.com/office/drawing/2014/main" id="{CEFB402E-CDE0-974F-8A99-094BE95F90DC}"/>
                  </a:ext>
                </a:extLst>
              </p:cNvPr>
              <p:cNvSpPr txBox="1">
                <a:spLocks noRot="1" noChangeAspect="1" noMove="1" noResize="1" noEditPoints="1" noAdjustHandles="1" noChangeArrowheads="1" noChangeShapeType="1" noTextEdit="1"/>
              </p:cNvSpPr>
              <p:nvPr/>
            </p:nvSpPr>
            <p:spPr>
              <a:xfrm>
                <a:off x="4100383" y="2277587"/>
                <a:ext cx="2646405" cy="738664"/>
              </a:xfrm>
              <a:prstGeom prst="rect">
                <a:avLst/>
              </a:prstGeo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C0284700-D4CF-D949-B191-C9C655FD86A4}"/>
              </a:ext>
            </a:extLst>
          </p:cNvPr>
          <p:cNvPicPr>
            <a:picLocks noChangeAspect="1"/>
          </p:cNvPicPr>
          <p:nvPr/>
        </p:nvPicPr>
        <p:blipFill>
          <a:blip r:embed="rId3"/>
          <a:stretch>
            <a:fillRect/>
          </a:stretch>
        </p:blipFill>
        <p:spPr>
          <a:xfrm>
            <a:off x="3016250" y="3567112"/>
            <a:ext cx="6159500" cy="1600200"/>
          </a:xfrm>
          <a:prstGeom prst="rect">
            <a:avLst/>
          </a:prstGeom>
        </p:spPr>
      </p:pic>
    </p:spTree>
    <p:extLst>
      <p:ext uri="{BB962C8B-B14F-4D97-AF65-F5344CB8AC3E}">
        <p14:creationId xmlns:p14="http://schemas.microsoft.com/office/powerpoint/2010/main" val="330412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8896-92EA-8C4B-968F-4A72E3828C88}"/>
              </a:ext>
            </a:extLst>
          </p:cNvPr>
          <p:cNvSpPr>
            <a:spLocks noGrp="1"/>
          </p:cNvSpPr>
          <p:nvPr>
            <p:ph type="title"/>
          </p:nvPr>
        </p:nvSpPr>
        <p:spPr>
          <a:xfrm>
            <a:off x="838200" y="365125"/>
            <a:ext cx="10515600" cy="1476032"/>
          </a:xfrm>
        </p:spPr>
        <p:txBody>
          <a:bodyPr>
            <a:normAutofit/>
          </a:bodyPr>
          <a:lstStyle/>
          <a:p>
            <a:r>
              <a:rPr lang="en-US" sz="1600" dirty="0"/>
              <a:t>A dairy company gets milk from two dairies and then blends the milk to get the desired amount of butterfat. Milk from dairy I costs $2.40 per gallon, and milk from dairy II costs $0.80 per gallon. At most $144 is available for purchasing milk. Dairy I can supply at most 55 gallons averaging 3.7% butterfat, and dairy II can supply at most 90 gallons averaging 2.9% butterfat. How much milk from each supplier should the company buy to get at most 100 gallons of milk with the maximum amount of butterfat? What is the maximum amount of butterfat?</a:t>
            </a:r>
          </a:p>
        </p:txBody>
      </p:sp>
      <p:sp>
        <p:nvSpPr>
          <p:cNvPr id="3" name="TextBox 2">
            <a:extLst>
              <a:ext uri="{FF2B5EF4-FFF2-40B4-BE49-F238E27FC236}">
                <a16:creationId xmlns:a16="http://schemas.microsoft.com/office/drawing/2014/main" id="{C82BD443-F135-994C-89D0-3EA63D7DC7D8}"/>
              </a:ext>
            </a:extLst>
          </p:cNvPr>
          <p:cNvSpPr txBox="1"/>
          <p:nvPr/>
        </p:nvSpPr>
        <p:spPr>
          <a:xfrm>
            <a:off x="963827" y="1841157"/>
            <a:ext cx="5436973" cy="307777"/>
          </a:xfrm>
          <a:prstGeom prst="rect">
            <a:avLst/>
          </a:prstGeom>
          <a:noFill/>
        </p:spPr>
        <p:txBody>
          <a:bodyPr wrap="square" rtlCol="0">
            <a:spAutoFit/>
          </a:bodyPr>
          <a:lstStyle/>
          <a:p>
            <a:r>
              <a:rPr lang="en-US" sz="1400" dirty="0"/>
              <a:t>Let x = the # of gallons from dairy I and y = the # of gallons from dairy II.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027CD86-4D0C-F04F-B195-9CECE1F21ED2}"/>
                  </a:ext>
                </a:extLst>
              </p:cNvPr>
              <p:cNvSpPr txBox="1"/>
              <p:nvPr/>
            </p:nvSpPr>
            <p:spPr>
              <a:xfrm>
                <a:off x="963827" y="2148934"/>
                <a:ext cx="3089189" cy="1600438"/>
              </a:xfrm>
              <a:prstGeom prst="rect">
                <a:avLst/>
              </a:prstGeom>
              <a:noFill/>
            </p:spPr>
            <p:txBody>
              <a:bodyPr wrap="square" rtlCol="0">
                <a:spAutoFit/>
              </a:bodyPr>
              <a:lstStyle/>
              <a:p>
                <a:r>
                  <a:rPr lang="en-US" sz="1400" dirty="0"/>
                  <a:t>Maximize:</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0.037</m:t>
                      </m:r>
                      <m:r>
                        <a:rPr lang="en-US" sz="1400" b="0" i="1" smtClean="0">
                          <a:latin typeface="Cambria Math" panose="02040503050406030204" pitchFamily="18" charset="0"/>
                        </a:rPr>
                        <m:t>𝑥</m:t>
                      </m:r>
                      <m:r>
                        <a:rPr lang="en-US" sz="1400" b="0" i="1" smtClean="0">
                          <a:latin typeface="Cambria Math" panose="02040503050406030204" pitchFamily="18" charset="0"/>
                        </a:rPr>
                        <m:t>+0.029</m:t>
                      </m:r>
                      <m:r>
                        <a:rPr lang="en-US" sz="1400" b="0" i="1" smtClean="0">
                          <a:latin typeface="Cambria Math" panose="02040503050406030204" pitchFamily="18" charset="0"/>
                        </a:rPr>
                        <m:t>𝑦</m:t>
                      </m:r>
                    </m:oMath>
                  </m:oMathPara>
                </a14:m>
                <a:endParaRPr lang="en-US" sz="1400" b="0" dirty="0"/>
              </a:p>
              <a:p>
                <a:r>
                  <a:rPr lang="en-US" sz="1400" dirty="0"/>
                  <a:t>Subject to:</a:t>
                </a:r>
                <a:endParaRPr lang="en-US" sz="1400" b="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2.4</m:t>
                      </m:r>
                      <m:r>
                        <a:rPr lang="en-US" sz="1400" b="0" i="1" smtClean="0">
                          <a:latin typeface="Cambria Math" panose="02040503050406030204" pitchFamily="18" charset="0"/>
                        </a:rPr>
                        <m:t>𝑥</m:t>
                      </m:r>
                      <m:r>
                        <a:rPr lang="en-US" sz="1400" b="0" i="1" smtClean="0">
                          <a:latin typeface="Cambria Math" panose="02040503050406030204" pitchFamily="18" charset="0"/>
                        </a:rPr>
                        <m:t>+0.8</m:t>
                      </m:r>
                      <m:r>
                        <a:rPr lang="en-US" sz="1400" b="0" i="1" smtClean="0">
                          <a:latin typeface="Cambria Math" panose="02040503050406030204" pitchFamily="18" charset="0"/>
                        </a:rPr>
                        <m:t>𝑦</m:t>
                      </m:r>
                      <m:r>
                        <a:rPr lang="en-US" sz="1400" b="0" i="1" smtClean="0">
                          <a:latin typeface="Cambria Math" panose="02040503050406030204" pitchFamily="18" charset="0"/>
                        </a:rPr>
                        <m:t>≤144</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≤55</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r>
                        <a:rPr lang="en-US" sz="1400" b="0" i="1" smtClean="0">
                          <a:latin typeface="Cambria Math" panose="02040503050406030204" pitchFamily="18" charset="0"/>
                        </a:rPr>
                        <m:t>≤90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≤100</m:t>
                      </m:r>
                    </m:oMath>
                  </m:oMathPara>
                </a14:m>
                <a:endParaRPr lang="en-US" sz="1400" dirty="0"/>
              </a:p>
            </p:txBody>
          </p:sp>
        </mc:Choice>
        <mc:Fallback xmlns="">
          <p:sp>
            <p:nvSpPr>
              <p:cNvPr id="4" name="TextBox 3">
                <a:extLst>
                  <a:ext uri="{FF2B5EF4-FFF2-40B4-BE49-F238E27FC236}">
                    <a16:creationId xmlns:a16="http://schemas.microsoft.com/office/drawing/2014/main" id="{5027CD86-4D0C-F04F-B195-9CECE1F21ED2}"/>
                  </a:ext>
                </a:extLst>
              </p:cNvPr>
              <p:cNvSpPr txBox="1">
                <a:spLocks noRot="1" noChangeAspect="1" noMove="1" noResize="1" noEditPoints="1" noAdjustHandles="1" noChangeArrowheads="1" noChangeShapeType="1" noTextEdit="1"/>
              </p:cNvSpPr>
              <p:nvPr/>
            </p:nvSpPr>
            <p:spPr>
              <a:xfrm>
                <a:off x="963827" y="2148934"/>
                <a:ext cx="3089189" cy="1600438"/>
              </a:xfrm>
              <a:prstGeom prst="rect">
                <a:avLst/>
              </a:prstGeom>
              <a:blipFill>
                <a:blip r:embed="rId2"/>
                <a:stretch>
                  <a:fillRect l="-41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58EDF83-ACFF-7E43-ACA7-092D91914342}"/>
              </a:ext>
            </a:extLst>
          </p:cNvPr>
          <p:cNvSpPr txBox="1"/>
          <p:nvPr/>
        </p:nvSpPr>
        <p:spPr>
          <a:xfrm>
            <a:off x="963827" y="3892378"/>
            <a:ext cx="3768811" cy="523220"/>
          </a:xfrm>
          <a:prstGeom prst="rect">
            <a:avLst/>
          </a:prstGeom>
          <a:noFill/>
        </p:spPr>
        <p:txBody>
          <a:bodyPr wrap="square" rtlCol="0">
            <a:spAutoFit/>
          </a:bodyPr>
          <a:lstStyle/>
          <a:p>
            <a:r>
              <a:rPr lang="en-US" sz="1400" dirty="0"/>
              <a:t>Corner points of feasible region:</a:t>
            </a:r>
          </a:p>
          <a:p>
            <a:r>
              <a:rPr lang="en-US" sz="1400" dirty="0"/>
              <a:t>(0, 0), (0, 90), (10, 90), (40, 60), (55, 15), (55, 0)</a:t>
            </a:r>
          </a:p>
        </p:txBody>
      </p:sp>
      <p:sp>
        <p:nvSpPr>
          <p:cNvPr id="10" name="TextBox 9">
            <a:extLst>
              <a:ext uri="{FF2B5EF4-FFF2-40B4-BE49-F238E27FC236}">
                <a16:creationId xmlns:a16="http://schemas.microsoft.com/office/drawing/2014/main" id="{081708EE-6877-2240-BC7E-70087E36BE2A}"/>
              </a:ext>
            </a:extLst>
          </p:cNvPr>
          <p:cNvSpPr txBox="1"/>
          <p:nvPr/>
        </p:nvSpPr>
        <p:spPr>
          <a:xfrm>
            <a:off x="963827" y="4754152"/>
            <a:ext cx="4572000" cy="523220"/>
          </a:xfrm>
          <a:prstGeom prst="rect">
            <a:avLst/>
          </a:prstGeom>
          <a:noFill/>
        </p:spPr>
        <p:txBody>
          <a:bodyPr wrap="square" rtlCol="0">
            <a:spAutoFit/>
          </a:bodyPr>
          <a:lstStyle/>
          <a:p>
            <a:r>
              <a:rPr lang="en-US" sz="1400" dirty="0"/>
              <a:t>(40, 60) produces the maximum amount of butterfat.</a:t>
            </a:r>
          </a:p>
          <a:p>
            <a:r>
              <a:rPr lang="en-US" sz="1400" dirty="0"/>
              <a:t>The amount of butterfat is 3.22 gallons.</a:t>
            </a:r>
          </a:p>
        </p:txBody>
      </p:sp>
      <p:pic>
        <p:nvPicPr>
          <p:cNvPr id="7" name="Picture 6">
            <a:extLst>
              <a:ext uri="{FF2B5EF4-FFF2-40B4-BE49-F238E27FC236}">
                <a16:creationId xmlns:a16="http://schemas.microsoft.com/office/drawing/2014/main" id="{4046DC61-CA30-9A4A-BE66-73DC1F34CB3B}"/>
              </a:ext>
            </a:extLst>
          </p:cNvPr>
          <p:cNvPicPr>
            <a:picLocks noChangeAspect="1"/>
          </p:cNvPicPr>
          <p:nvPr/>
        </p:nvPicPr>
        <p:blipFill>
          <a:blip r:embed="rId3"/>
          <a:stretch>
            <a:fillRect/>
          </a:stretch>
        </p:blipFill>
        <p:spPr>
          <a:xfrm>
            <a:off x="6526427" y="2060272"/>
            <a:ext cx="5067300" cy="3378200"/>
          </a:xfrm>
          <a:prstGeom prst="rect">
            <a:avLst/>
          </a:prstGeom>
        </p:spPr>
      </p:pic>
    </p:spTree>
    <p:extLst>
      <p:ext uri="{BB962C8B-B14F-4D97-AF65-F5344CB8AC3E}">
        <p14:creationId xmlns:p14="http://schemas.microsoft.com/office/powerpoint/2010/main" val="168008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7414-8514-944E-9085-84F93F0BABD4}"/>
              </a:ext>
            </a:extLst>
          </p:cNvPr>
          <p:cNvSpPr>
            <a:spLocks noGrp="1"/>
          </p:cNvSpPr>
          <p:nvPr>
            <p:ph type="title"/>
          </p:nvPr>
        </p:nvSpPr>
        <p:spPr/>
        <p:txBody>
          <a:bodyPr>
            <a:normAutofit/>
          </a:bodyPr>
          <a:lstStyle/>
          <a:p>
            <a:r>
              <a:rPr lang="en-US" sz="1600" dirty="0"/>
              <a:t>As part of a weight reduction program, a man designs a monthly exercise program consisting of bicycling, jogging, and</a:t>
            </a:r>
            <a:br>
              <a:rPr lang="en-US" sz="1600" dirty="0"/>
            </a:br>
            <a:r>
              <a:rPr lang="en-US" sz="1600" dirty="0"/>
              <a:t>swimming. He would like to exercise at most 34 hours, devote at most 8 hours to swimming, and jog for no more than the</a:t>
            </a:r>
            <a:br>
              <a:rPr lang="en-US" sz="1600" dirty="0"/>
            </a:br>
            <a:r>
              <a:rPr lang="en-US" sz="1600" dirty="0"/>
              <a:t>total number of hours bicycling and swimming. The calories burned by this person per hour by bicycling, jogging, and</a:t>
            </a:r>
            <a:br>
              <a:rPr lang="en-US" sz="1600" dirty="0"/>
            </a:br>
            <a:r>
              <a:rPr lang="en-US" sz="1600" dirty="0"/>
              <a:t>swimming are 200, 450, and 270, respectively. How many hours should be allotted to each activity to maximize the number</a:t>
            </a:r>
            <a:br>
              <a:rPr lang="en-US" sz="1600" dirty="0"/>
            </a:br>
            <a:r>
              <a:rPr lang="en-US" sz="1600" dirty="0"/>
              <a:t>of calories burned? What is the maximum number of calories he will burn?</a:t>
            </a:r>
          </a:p>
        </p:txBody>
      </p:sp>
      <p:sp>
        <p:nvSpPr>
          <p:cNvPr id="3" name="TextBox 2">
            <a:extLst>
              <a:ext uri="{FF2B5EF4-FFF2-40B4-BE49-F238E27FC236}">
                <a16:creationId xmlns:a16="http://schemas.microsoft.com/office/drawing/2014/main" id="{E4607EE8-74EF-8F4B-B041-567164CCE03C}"/>
              </a:ext>
            </a:extLst>
          </p:cNvPr>
          <p:cNvSpPr txBox="1"/>
          <p:nvPr/>
        </p:nvSpPr>
        <p:spPr>
          <a:xfrm>
            <a:off x="838201" y="1804086"/>
            <a:ext cx="7391400" cy="307777"/>
          </a:xfrm>
          <a:prstGeom prst="rect">
            <a:avLst/>
          </a:prstGeom>
          <a:noFill/>
        </p:spPr>
        <p:txBody>
          <a:bodyPr wrap="square" rtlCol="0">
            <a:spAutoFit/>
          </a:bodyPr>
          <a:lstStyle/>
          <a:p>
            <a:r>
              <a:rPr lang="en-US" sz="1400" dirty="0"/>
              <a:t>Let x</a:t>
            </a:r>
            <a:r>
              <a:rPr lang="en-US" sz="1400" baseline="-25000" dirty="0"/>
              <a:t>1</a:t>
            </a:r>
            <a:r>
              <a:rPr lang="en-US" sz="1400" dirty="0"/>
              <a:t> = # of hours spent cycling, x</a:t>
            </a:r>
            <a:r>
              <a:rPr lang="en-US" sz="1400" baseline="-25000" dirty="0"/>
              <a:t>2</a:t>
            </a:r>
            <a:r>
              <a:rPr lang="en-US" sz="1400" dirty="0"/>
              <a:t> = # of hours spent jogging, and x</a:t>
            </a:r>
            <a:r>
              <a:rPr lang="en-US" sz="1400" baseline="-25000" dirty="0"/>
              <a:t>3</a:t>
            </a:r>
            <a:r>
              <a:rPr lang="en-US" sz="1400" dirty="0"/>
              <a:t> = # of hours spent swimming.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CB54457-5B17-8C40-B0A1-11FA6C796CE6}"/>
                  </a:ext>
                </a:extLst>
              </p:cNvPr>
              <p:cNvSpPr txBox="1"/>
              <p:nvPr/>
            </p:nvSpPr>
            <p:spPr>
              <a:xfrm>
                <a:off x="838200" y="2224216"/>
                <a:ext cx="3326027" cy="1384995"/>
              </a:xfrm>
              <a:prstGeom prst="rect">
                <a:avLst/>
              </a:prstGeom>
              <a:noFill/>
            </p:spPr>
            <p:txBody>
              <a:bodyPr wrap="square" rtlCol="0">
                <a:spAutoFit/>
              </a:bodyPr>
              <a:lstStyle/>
              <a:p>
                <a:r>
                  <a:rPr lang="en-US" sz="1400" dirty="0"/>
                  <a:t>Maximize:</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𝑧</m:t>
                      </m:r>
                      <m:r>
                        <a:rPr lang="en-US" sz="1400" b="0" i="1" smtClean="0">
                          <a:latin typeface="Cambria Math" panose="02040503050406030204" pitchFamily="18" charset="0"/>
                        </a:rPr>
                        <m:t>=200</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+450</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+270</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3</m:t>
                          </m:r>
                        </m:sub>
                      </m:sSub>
                    </m:oMath>
                  </m:oMathPara>
                </a14:m>
                <a:endParaRPr lang="en-US" sz="1400" dirty="0"/>
              </a:p>
              <a:p>
                <a:r>
                  <a:rPr lang="en-US" sz="1400" dirty="0"/>
                  <a:t>Subject to:</a:t>
                </a:r>
              </a:p>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3</m:t>
                          </m:r>
                        </m:sub>
                      </m:sSub>
                      <m:r>
                        <a:rPr lang="en-US" sz="1400" b="0" i="1" smtClean="0">
                          <a:latin typeface="Cambria Math" panose="02040503050406030204" pitchFamily="18" charset="0"/>
                        </a:rPr>
                        <m:t>≤34</m:t>
                      </m:r>
                    </m:oMath>
                  </m:oMathPara>
                </a14:m>
                <a:endParaRPr lang="en-US" sz="1400" dirty="0"/>
              </a:p>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3</m:t>
                          </m:r>
                        </m:sub>
                      </m:sSub>
                      <m:r>
                        <a:rPr lang="en-US" sz="1400" b="0" i="1" smtClean="0">
                          <a:latin typeface="Cambria Math" panose="02040503050406030204" pitchFamily="18" charset="0"/>
                        </a:rPr>
                        <m:t>≤8</m:t>
                      </m:r>
                    </m:oMath>
                  </m:oMathPara>
                </a14:m>
                <a:endParaRPr lang="en-US" sz="1400" dirty="0"/>
              </a:p>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3</m:t>
                          </m:r>
                        </m:sub>
                      </m:sSub>
                    </m:oMath>
                  </m:oMathPara>
                </a14:m>
                <a:endParaRPr lang="en-US" sz="1400" dirty="0"/>
              </a:p>
            </p:txBody>
          </p:sp>
        </mc:Choice>
        <mc:Fallback xmlns="">
          <p:sp>
            <p:nvSpPr>
              <p:cNvPr id="4" name="TextBox 3">
                <a:extLst>
                  <a:ext uri="{FF2B5EF4-FFF2-40B4-BE49-F238E27FC236}">
                    <a16:creationId xmlns:a16="http://schemas.microsoft.com/office/drawing/2014/main" id="{0CB54457-5B17-8C40-B0A1-11FA6C796CE6}"/>
                  </a:ext>
                </a:extLst>
              </p:cNvPr>
              <p:cNvSpPr txBox="1">
                <a:spLocks noRot="1" noChangeAspect="1" noMove="1" noResize="1" noEditPoints="1" noAdjustHandles="1" noChangeArrowheads="1" noChangeShapeType="1" noTextEdit="1"/>
              </p:cNvSpPr>
              <p:nvPr/>
            </p:nvSpPr>
            <p:spPr>
              <a:xfrm>
                <a:off x="838200" y="2224216"/>
                <a:ext cx="3326027" cy="1384995"/>
              </a:xfrm>
              <a:prstGeom prst="rect">
                <a:avLst/>
              </a:prstGeom>
              <a:blipFill>
                <a:blip r:embed="rId2"/>
                <a:stretch>
                  <a:fillRect l="-38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9655A4D-E3C8-AD46-9430-56EBD275C850}"/>
              </a:ext>
            </a:extLst>
          </p:cNvPr>
          <p:cNvPicPr>
            <a:picLocks noChangeAspect="1"/>
          </p:cNvPicPr>
          <p:nvPr/>
        </p:nvPicPr>
        <p:blipFill>
          <a:blip r:embed="rId3"/>
          <a:stretch>
            <a:fillRect/>
          </a:stretch>
        </p:blipFill>
        <p:spPr>
          <a:xfrm>
            <a:off x="5413976" y="3171338"/>
            <a:ext cx="4749800" cy="1574800"/>
          </a:xfrm>
          <a:prstGeom prst="rect">
            <a:avLst/>
          </a:prstGeom>
        </p:spPr>
      </p:pic>
    </p:spTree>
    <p:extLst>
      <p:ext uri="{BB962C8B-B14F-4D97-AF65-F5344CB8AC3E}">
        <p14:creationId xmlns:p14="http://schemas.microsoft.com/office/powerpoint/2010/main" val="222697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37A764-8EB7-9B45-A7F7-DA5E3C17385F}"/>
              </a:ext>
            </a:extLst>
          </p:cNvPr>
          <p:cNvPicPr>
            <a:picLocks noChangeAspect="1"/>
          </p:cNvPicPr>
          <p:nvPr/>
        </p:nvPicPr>
        <p:blipFill>
          <a:blip r:embed="rId2"/>
          <a:stretch>
            <a:fillRect/>
          </a:stretch>
        </p:blipFill>
        <p:spPr>
          <a:xfrm>
            <a:off x="139703" y="225511"/>
            <a:ext cx="7618871" cy="1554480"/>
          </a:xfrm>
          <a:prstGeom prst="rect">
            <a:avLst/>
          </a:prstGeom>
        </p:spPr>
      </p:pic>
      <p:pic>
        <p:nvPicPr>
          <p:cNvPr id="5" name="Picture 4">
            <a:extLst>
              <a:ext uri="{FF2B5EF4-FFF2-40B4-BE49-F238E27FC236}">
                <a16:creationId xmlns:a16="http://schemas.microsoft.com/office/drawing/2014/main" id="{4F25D74D-A2DD-DE4E-A760-A40C463B28F9}"/>
              </a:ext>
            </a:extLst>
          </p:cNvPr>
          <p:cNvPicPr>
            <a:picLocks noChangeAspect="1"/>
          </p:cNvPicPr>
          <p:nvPr/>
        </p:nvPicPr>
        <p:blipFill>
          <a:blip r:embed="rId3"/>
          <a:stretch>
            <a:fillRect/>
          </a:stretch>
        </p:blipFill>
        <p:spPr>
          <a:xfrm>
            <a:off x="139703" y="1906029"/>
            <a:ext cx="7426960" cy="1554480"/>
          </a:xfrm>
          <a:prstGeom prst="rect">
            <a:avLst/>
          </a:prstGeom>
        </p:spPr>
      </p:pic>
      <p:pic>
        <p:nvPicPr>
          <p:cNvPr id="7" name="Picture 6">
            <a:extLst>
              <a:ext uri="{FF2B5EF4-FFF2-40B4-BE49-F238E27FC236}">
                <a16:creationId xmlns:a16="http://schemas.microsoft.com/office/drawing/2014/main" id="{F155801B-8547-1C48-B39B-0DD15B5DF7AA}"/>
              </a:ext>
            </a:extLst>
          </p:cNvPr>
          <p:cNvPicPr>
            <a:picLocks noChangeAspect="1"/>
          </p:cNvPicPr>
          <p:nvPr/>
        </p:nvPicPr>
        <p:blipFill>
          <a:blip r:embed="rId4"/>
          <a:stretch>
            <a:fillRect/>
          </a:stretch>
        </p:blipFill>
        <p:spPr>
          <a:xfrm>
            <a:off x="139703" y="4049310"/>
            <a:ext cx="7426960" cy="1554480"/>
          </a:xfrm>
          <a:prstGeom prst="rect">
            <a:avLst/>
          </a:prstGeom>
        </p:spPr>
      </p:pic>
      <p:sp>
        <p:nvSpPr>
          <p:cNvPr id="8" name="TextBox 7">
            <a:extLst>
              <a:ext uri="{FF2B5EF4-FFF2-40B4-BE49-F238E27FC236}">
                <a16:creationId xmlns:a16="http://schemas.microsoft.com/office/drawing/2014/main" id="{B63129F9-F86B-CA42-B130-2B050B96C65F}"/>
              </a:ext>
            </a:extLst>
          </p:cNvPr>
          <p:cNvSpPr txBox="1"/>
          <p:nvPr/>
        </p:nvSpPr>
        <p:spPr>
          <a:xfrm>
            <a:off x="7920682" y="2162432"/>
            <a:ext cx="1594022" cy="2462213"/>
          </a:xfrm>
          <a:prstGeom prst="rect">
            <a:avLst/>
          </a:prstGeom>
          <a:noFill/>
        </p:spPr>
        <p:txBody>
          <a:bodyPr wrap="square" rtlCol="0">
            <a:spAutoFit/>
          </a:bodyPr>
          <a:lstStyle/>
          <a:p>
            <a:r>
              <a:rPr lang="en-US" sz="1400" dirty="0"/>
              <a:t>Kruskal’s Algorithm</a:t>
            </a:r>
          </a:p>
          <a:p>
            <a:r>
              <a:rPr lang="en-US" sz="1400" dirty="0"/>
              <a:t>B, G – 2 </a:t>
            </a:r>
          </a:p>
          <a:p>
            <a:r>
              <a:rPr lang="en-US" sz="1400" dirty="0"/>
              <a:t>B, C – 4 </a:t>
            </a:r>
          </a:p>
          <a:p>
            <a:r>
              <a:rPr lang="en-US" sz="1400" dirty="0"/>
              <a:t>A, B – 10 </a:t>
            </a:r>
          </a:p>
          <a:p>
            <a:r>
              <a:rPr lang="en-US" sz="1400" dirty="0"/>
              <a:t>A, H – 15 </a:t>
            </a:r>
          </a:p>
          <a:p>
            <a:r>
              <a:rPr lang="en-US" sz="1400" dirty="0"/>
              <a:t>D, E – 16 </a:t>
            </a:r>
          </a:p>
          <a:p>
            <a:r>
              <a:rPr lang="en-US" sz="1400" dirty="0"/>
              <a:t>C, F – 25 </a:t>
            </a:r>
          </a:p>
          <a:p>
            <a:r>
              <a:rPr lang="en-US" sz="1400" dirty="0"/>
              <a:t>F, G – 28 </a:t>
            </a:r>
          </a:p>
          <a:p>
            <a:r>
              <a:rPr lang="en-US" sz="1400" dirty="0"/>
              <a:t>E, F – 35 </a:t>
            </a:r>
          </a:p>
          <a:p>
            <a:r>
              <a:rPr lang="en-US" sz="1400" dirty="0"/>
              <a:t>C, D – 41 </a:t>
            </a:r>
          </a:p>
          <a:p>
            <a:r>
              <a:rPr lang="en-US" sz="1400" dirty="0"/>
              <a:t>G, H – 49 </a:t>
            </a:r>
          </a:p>
        </p:txBody>
      </p:sp>
      <p:cxnSp>
        <p:nvCxnSpPr>
          <p:cNvPr id="10" name="Straight Connector 9">
            <a:extLst>
              <a:ext uri="{FF2B5EF4-FFF2-40B4-BE49-F238E27FC236}">
                <a16:creationId xmlns:a16="http://schemas.microsoft.com/office/drawing/2014/main" id="{49F12F34-02F6-1C49-8BBD-4DA6EF9C3D13}"/>
              </a:ext>
            </a:extLst>
          </p:cNvPr>
          <p:cNvCxnSpPr/>
          <p:nvPr/>
        </p:nvCxnSpPr>
        <p:spPr>
          <a:xfrm>
            <a:off x="5857103" y="939114"/>
            <a:ext cx="0" cy="691978"/>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B951F19D-5B82-4347-A8A3-EFAF81DE2B73}"/>
              </a:ext>
            </a:extLst>
          </p:cNvPr>
          <p:cNvCxnSpPr>
            <a:cxnSpLocks/>
          </p:cNvCxnSpPr>
          <p:nvPr/>
        </p:nvCxnSpPr>
        <p:spPr>
          <a:xfrm flipH="1">
            <a:off x="5857103" y="348343"/>
            <a:ext cx="863011" cy="590771"/>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1EE3ACBE-2609-D748-87D3-CF716D11891A}"/>
              </a:ext>
            </a:extLst>
          </p:cNvPr>
          <p:cNvCxnSpPr>
            <a:cxnSpLocks/>
          </p:cNvCxnSpPr>
          <p:nvPr/>
        </p:nvCxnSpPr>
        <p:spPr>
          <a:xfrm>
            <a:off x="5007429" y="348343"/>
            <a:ext cx="835748" cy="590771"/>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5" name="Straight Connector 14">
            <a:extLst>
              <a:ext uri="{FF2B5EF4-FFF2-40B4-BE49-F238E27FC236}">
                <a16:creationId xmlns:a16="http://schemas.microsoft.com/office/drawing/2014/main" id="{2A219FA1-6F9C-3B49-9B2D-DC5152191222}"/>
              </a:ext>
            </a:extLst>
          </p:cNvPr>
          <p:cNvCxnSpPr/>
          <p:nvPr/>
        </p:nvCxnSpPr>
        <p:spPr>
          <a:xfrm>
            <a:off x="5007429" y="348343"/>
            <a:ext cx="0" cy="691978"/>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6" name="Straight Connector 15">
            <a:extLst>
              <a:ext uri="{FF2B5EF4-FFF2-40B4-BE49-F238E27FC236}">
                <a16:creationId xmlns:a16="http://schemas.microsoft.com/office/drawing/2014/main" id="{877CA567-1965-C34A-825C-D0E3117A9FDE}"/>
              </a:ext>
            </a:extLst>
          </p:cNvPr>
          <p:cNvCxnSpPr/>
          <p:nvPr/>
        </p:nvCxnSpPr>
        <p:spPr>
          <a:xfrm>
            <a:off x="7596280" y="939114"/>
            <a:ext cx="0" cy="691978"/>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0A5D9718-2846-0242-925C-31F91408C891}"/>
              </a:ext>
            </a:extLst>
          </p:cNvPr>
          <p:cNvCxnSpPr/>
          <p:nvPr/>
        </p:nvCxnSpPr>
        <p:spPr>
          <a:xfrm>
            <a:off x="6720114" y="348343"/>
            <a:ext cx="0" cy="691978"/>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sp>
        <p:nvSpPr>
          <p:cNvPr id="18" name="TextBox 17">
            <a:extLst>
              <a:ext uri="{FF2B5EF4-FFF2-40B4-BE49-F238E27FC236}">
                <a16:creationId xmlns:a16="http://schemas.microsoft.com/office/drawing/2014/main" id="{B9DD3922-D543-2343-AAA1-54788F4FB1DC}"/>
              </a:ext>
            </a:extLst>
          </p:cNvPr>
          <p:cNvSpPr txBox="1"/>
          <p:nvPr/>
        </p:nvSpPr>
        <p:spPr>
          <a:xfrm>
            <a:off x="4364080" y="3563627"/>
            <a:ext cx="2356034" cy="307777"/>
          </a:xfrm>
          <a:prstGeom prst="rect">
            <a:avLst/>
          </a:prstGeom>
          <a:noFill/>
        </p:spPr>
        <p:txBody>
          <a:bodyPr wrap="square" rtlCol="0">
            <a:spAutoFit/>
          </a:bodyPr>
          <a:lstStyle/>
          <a:p>
            <a:r>
              <a:rPr lang="en-US" sz="1400" b="1" dirty="0">
                <a:solidFill>
                  <a:srgbClr val="FF0000"/>
                </a:solidFill>
              </a:rPr>
              <a:t>Can eliminate options B &amp; D</a:t>
            </a:r>
          </a:p>
        </p:txBody>
      </p:sp>
      <p:sp>
        <p:nvSpPr>
          <p:cNvPr id="19" name="TextBox 18">
            <a:extLst>
              <a:ext uri="{FF2B5EF4-FFF2-40B4-BE49-F238E27FC236}">
                <a16:creationId xmlns:a16="http://schemas.microsoft.com/office/drawing/2014/main" id="{CB065073-50C7-6E48-BFDC-A73758438D1E}"/>
              </a:ext>
            </a:extLst>
          </p:cNvPr>
          <p:cNvSpPr txBox="1"/>
          <p:nvPr/>
        </p:nvSpPr>
        <p:spPr>
          <a:xfrm>
            <a:off x="8665618" y="3657600"/>
            <a:ext cx="1698171" cy="307777"/>
          </a:xfrm>
          <a:prstGeom prst="rect">
            <a:avLst/>
          </a:prstGeom>
          <a:noFill/>
        </p:spPr>
        <p:txBody>
          <a:bodyPr wrap="square" rtlCol="0">
            <a:spAutoFit/>
          </a:bodyPr>
          <a:lstStyle/>
          <a:p>
            <a:r>
              <a:rPr lang="en-US" sz="1400" b="1" dirty="0">
                <a:solidFill>
                  <a:srgbClr val="FF0000"/>
                </a:solidFill>
              </a:rPr>
              <a:t>F, G creates a circuit</a:t>
            </a:r>
          </a:p>
        </p:txBody>
      </p:sp>
      <p:cxnSp>
        <p:nvCxnSpPr>
          <p:cNvPr id="20" name="Straight Connector 19">
            <a:extLst>
              <a:ext uri="{FF2B5EF4-FFF2-40B4-BE49-F238E27FC236}">
                <a16:creationId xmlns:a16="http://schemas.microsoft.com/office/drawing/2014/main" id="{1460CCD7-2ECF-5448-8312-40F2385F9B1D}"/>
              </a:ext>
            </a:extLst>
          </p:cNvPr>
          <p:cNvCxnSpPr>
            <a:cxnSpLocks/>
          </p:cNvCxnSpPr>
          <p:nvPr/>
        </p:nvCxnSpPr>
        <p:spPr>
          <a:xfrm>
            <a:off x="6720114" y="1002751"/>
            <a:ext cx="846549" cy="552023"/>
          </a:xfrm>
          <a:prstGeom prst="line">
            <a:avLst/>
          </a:prstGeom>
          <a:ln w="38100">
            <a:solidFill>
              <a:srgbClr val="FF0000"/>
            </a:solidFill>
          </a:ln>
        </p:spPr>
        <p:style>
          <a:lnRef idx="3">
            <a:schemeClr val="accent6"/>
          </a:lnRef>
          <a:fillRef idx="0">
            <a:schemeClr val="accent6"/>
          </a:fillRef>
          <a:effectRef idx="2">
            <a:schemeClr val="accent6"/>
          </a:effectRef>
          <a:fontRef idx="minor">
            <a:schemeClr val="tx1"/>
          </a:fontRef>
        </p:style>
      </p:cxnSp>
      <p:sp>
        <p:nvSpPr>
          <p:cNvPr id="23" name="TextBox 22">
            <a:extLst>
              <a:ext uri="{FF2B5EF4-FFF2-40B4-BE49-F238E27FC236}">
                <a16:creationId xmlns:a16="http://schemas.microsoft.com/office/drawing/2014/main" id="{1BCC6300-1B4A-214F-B29A-EB36102E3B64}"/>
              </a:ext>
            </a:extLst>
          </p:cNvPr>
          <p:cNvSpPr txBox="1"/>
          <p:nvPr/>
        </p:nvSpPr>
        <p:spPr>
          <a:xfrm>
            <a:off x="508001" y="3563627"/>
            <a:ext cx="1959428" cy="318039"/>
          </a:xfrm>
          <a:prstGeom prst="rect">
            <a:avLst/>
          </a:prstGeom>
          <a:noFill/>
        </p:spPr>
        <p:txBody>
          <a:bodyPr wrap="square" rtlCol="0">
            <a:spAutoFit/>
          </a:bodyPr>
          <a:lstStyle/>
          <a:p>
            <a:r>
              <a:rPr lang="en-US" sz="1400" b="1" dirty="0">
                <a:solidFill>
                  <a:srgbClr val="FF0000"/>
                </a:solidFill>
              </a:rPr>
              <a:t>Can eliminate option A</a:t>
            </a:r>
          </a:p>
        </p:txBody>
      </p:sp>
    </p:spTree>
    <p:extLst>
      <p:ext uri="{BB962C8B-B14F-4D97-AF65-F5344CB8AC3E}">
        <p14:creationId xmlns:p14="http://schemas.microsoft.com/office/powerpoint/2010/main" val="47915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19"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A24C171-DDA0-AD48-B48A-C32D44B31F3A}"/>
                  </a:ext>
                </a:extLst>
              </p:cNvPr>
              <p:cNvSpPr>
                <a:spLocks noGrp="1"/>
              </p:cNvSpPr>
              <p:nvPr>
                <p:ph type="title"/>
              </p:nvPr>
            </p:nvSpPr>
            <p:spPr/>
            <p:txBody>
              <a:bodyPr>
                <a:normAutofit/>
              </a:bodyPr>
              <a:lstStyle/>
              <a:p>
                <a:r>
                  <a:rPr lang="en-US" sz="1600" dirty="0"/>
                  <a:t>An arrow is shot upward with a velocity of 64 feet per sec. Its height above the ground after </a:t>
                </a:r>
                <a14:m>
                  <m:oMath xmlns:m="http://schemas.openxmlformats.org/officeDocument/2006/math">
                    <m:r>
                      <a:rPr lang="en-US" sz="1600" b="0" i="1" smtClean="0">
                        <a:latin typeface="Cambria Math" panose="02040503050406030204" pitchFamily="18" charset="0"/>
                      </a:rPr>
                      <m:t>𝑡</m:t>
                    </m:r>
                  </m:oMath>
                </a14:m>
                <a:r>
                  <a:rPr lang="en-US" sz="1600" dirty="0"/>
                  <a:t> seconds is given by </a:t>
                </a:r>
                <a14:m>
                  <m:oMath xmlns:m="http://schemas.openxmlformats.org/officeDocument/2006/math">
                    <m:r>
                      <a:rPr lang="en-US" sz="1600" b="0" i="1" smtClean="0">
                        <a:latin typeface="Cambria Math" panose="02040503050406030204" pitchFamily="18" charset="0"/>
                      </a:rPr>
                      <m:t>𝑠</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=64</m:t>
                    </m:r>
                    <m:r>
                      <a:rPr lang="en-US" sz="1600" b="0" i="1" smtClean="0">
                        <a:latin typeface="Cambria Math" panose="02040503050406030204" pitchFamily="18" charset="0"/>
                      </a:rPr>
                      <m:t>𝑡</m:t>
                    </m:r>
                    <m:r>
                      <a:rPr lang="en-US" sz="1600" b="0" i="1" smtClean="0">
                        <a:latin typeface="Cambria Math" panose="02040503050406030204" pitchFamily="18" charset="0"/>
                      </a:rPr>
                      <m:t>−16</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𝑡</m:t>
                        </m:r>
                      </m:e>
                      <m:sup>
                        <m:r>
                          <a:rPr lang="en-US" sz="1600" b="0" i="1" smtClean="0">
                            <a:latin typeface="Cambria Math" panose="02040503050406030204" pitchFamily="18" charset="0"/>
                          </a:rPr>
                          <m:t>2</m:t>
                        </m:r>
                      </m:sup>
                    </m:sSup>
                  </m:oMath>
                </a14:m>
                <a:r>
                  <a:rPr lang="en-US" sz="1600" dirty="0"/>
                  <a:t>. Find the velocity and acceleration of the arrow after </a:t>
                </a:r>
                <a14:m>
                  <m:oMath xmlns:m="http://schemas.openxmlformats.org/officeDocument/2006/math">
                    <m:r>
                      <a:rPr lang="en-US" sz="1600" b="0" i="1" smtClean="0">
                        <a:latin typeface="Cambria Math" panose="02040503050406030204" pitchFamily="18" charset="0"/>
                      </a:rPr>
                      <m:t>𝑡</m:t>
                    </m:r>
                  </m:oMath>
                </a14:m>
                <a:r>
                  <a:rPr lang="en-US" sz="1600" dirty="0"/>
                  <a:t> seconds. What is the maximum height of the arrow? When does it hit the ground?</a:t>
                </a:r>
              </a:p>
            </p:txBody>
          </p:sp>
        </mc:Choice>
        <mc:Fallback xmlns="">
          <p:sp>
            <p:nvSpPr>
              <p:cNvPr id="2" name="Title 1">
                <a:extLst>
                  <a:ext uri="{FF2B5EF4-FFF2-40B4-BE49-F238E27FC236}">
                    <a16:creationId xmlns:a16="http://schemas.microsoft.com/office/drawing/2014/main" id="{3A24C171-DDA0-AD48-B48A-C32D44B31F3A}"/>
                  </a:ext>
                </a:extLst>
              </p:cNvPr>
              <p:cNvSpPr>
                <a:spLocks noGrp="1" noRot="1" noChangeAspect="1" noMove="1" noResize="1" noEditPoints="1" noAdjustHandles="1" noChangeArrowheads="1" noChangeShapeType="1" noTextEdit="1"/>
              </p:cNvSpPr>
              <p:nvPr>
                <p:ph type="title"/>
              </p:nvPr>
            </p:nvSpPr>
            <p:spPr>
              <a:blipFill>
                <a:blip r:embed="rId2"/>
                <a:stretch>
                  <a:fillRect l="-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59C4D0B-B052-9243-AAA9-C44348D01623}"/>
                  </a:ext>
                </a:extLst>
              </p:cNvPr>
              <p:cNvSpPr txBox="1"/>
              <p:nvPr/>
            </p:nvSpPr>
            <p:spPr>
              <a:xfrm>
                <a:off x="838200" y="1690688"/>
                <a:ext cx="267425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𝑣</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=64−32</m:t>
                      </m:r>
                      <m:r>
                        <a:rPr lang="en-US" sz="1400" b="0" i="1" smtClean="0">
                          <a:latin typeface="Cambria Math" panose="02040503050406030204" pitchFamily="18" charset="0"/>
                        </a:rPr>
                        <m:t>𝑡</m:t>
                      </m:r>
                    </m:oMath>
                  </m:oMathPara>
                </a14:m>
                <a:endParaRPr lang="en-US" sz="1400" dirty="0"/>
              </a:p>
            </p:txBody>
          </p:sp>
        </mc:Choice>
        <mc:Fallback xmlns="">
          <p:sp>
            <p:nvSpPr>
              <p:cNvPr id="3" name="TextBox 2">
                <a:extLst>
                  <a:ext uri="{FF2B5EF4-FFF2-40B4-BE49-F238E27FC236}">
                    <a16:creationId xmlns:a16="http://schemas.microsoft.com/office/drawing/2014/main" id="{F59C4D0B-B052-9243-AAA9-C44348D01623}"/>
                  </a:ext>
                </a:extLst>
              </p:cNvPr>
              <p:cNvSpPr txBox="1">
                <a:spLocks noRot="1" noChangeAspect="1" noMove="1" noResize="1" noEditPoints="1" noAdjustHandles="1" noChangeArrowheads="1" noChangeShapeType="1" noTextEdit="1"/>
              </p:cNvSpPr>
              <p:nvPr/>
            </p:nvSpPr>
            <p:spPr>
              <a:xfrm>
                <a:off x="838200" y="1690688"/>
                <a:ext cx="2674257"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1A228E-E968-D844-9023-360DE767F360}"/>
                  </a:ext>
                </a:extLst>
              </p:cNvPr>
              <p:cNvSpPr txBox="1"/>
              <p:nvPr/>
            </p:nvSpPr>
            <p:spPr>
              <a:xfrm>
                <a:off x="449943" y="2027493"/>
                <a:ext cx="25109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𝑎</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=−32</m:t>
                      </m:r>
                    </m:oMath>
                  </m:oMathPara>
                </a14:m>
                <a:endParaRPr lang="en-US" sz="1400" dirty="0"/>
              </a:p>
            </p:txBody>
          </p:sp>
        </mc:Choice>
        <mc:Fallback xmlns="">
          <p:sp>
            <p:nvSpPr>
              <p:cNvPr id="5" name="TextBox 4">
                <a:extLst>
                  <a:ext uri="{FF2B5EF4-FFF2-40B4-BE49-F238E27FC236}">
                    <a16:creationId xmlns:a16="http://schemas.microsoft.com/office/drawing/2014/main" id="{F21A228E-E968-D844-9023-360DE767F360}"/>
                  </a:ext>
                </a:extLst>
              </p:cNvPr>
              <p:cNvSpPr txBox="1">
                <a:spLocks noRot="1" noChangeAspect="1" noMove="1" noResize="1" noEditPoints="1" noAdjustHandles="1" noChangeArrowheads="1" noChangeShapeType="1" noTextEdit="1"/>
              </p:cNvSpPr>
              <p:nvPr/>
            </p:nvSpPr>
            <p:spPr>
              <a:xfrm>
                <a:off x="449943" y="2027493"/>
                <a:ext cx="2510971"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DC13FD-A387-1546-AD78-2B1A64F34D19}"/>
                  </a:ext>
                </a:extLst>
              </p:cNvPr>
              <p:cNvSpPr txBox="1"/>
              <p:nvPr/>
            </p:nvSpPr>
            <p:spPr>
              <a:xfrm>
                <a:off x="1175657" y="2540000"/>
                <a:ext cx="5471886" cy="738664"/>
              </a:xfrm>
              <a:prstGeom prst="rect">
                <a:avLst/>
              </a:prstGeom>
              <a:noFill/>
            </p:spPr>
            <p:txBody>
              <a:bodyPr wrap="square" rtlCol="0">
                <a:spAutoFit/>
              </a:bodyPr>
              <a:lstStyle/>
              <a:p>
                <a:r>
                  <a:rPr lang="en-US" sz="1400" dirty="0"/>
                  <a:t>To find the maximum height, set the derivative equal to 0 and solve for t:</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64−32</m:t>
                      </m:r>
                      <m:r>
                        <a:rPr lang="en-US" sz="1400" b="0" i="1" smtClean="0">
                          <a:latin typeface="Cambria Math" panose="02040503050406030204" pitchFamily="18" charset="0"/>
                        </a:rPr>
                        <m:t>𝑡</m:t>
                      </m:r>
                      <m:r>
                        <a:rPr lang="en-US" sz="1400" b="0" i="1" smtClean="0">
                          <a:latin typeface="Cambria Math" panose="02040503050406030204" pitchFamily="18" charset="0"/>
                        </a:rPr>
                        <m:t>=0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=2</m:t>
                      </m:r>
                    </m:oMath>
                  </m:oMathPara>
                </a14:m>
                <a:endParaRPr lang="en-US" sz="1400" dirty="0"/>
              </a:p>
            </p:txBody>
          </p:sp>
        </mc:Choice>
        <mc:Fallback xmlns="">
          <p:sp>
            <p:nvSpPr>
              <p:cNvPr id="6" name="TextBox 5">
                <a:extLst>
                  <a:ext uri="{FF2B5EF4-FFF2-40B4-BE49-F238E27FC236}">
                    <a16:creationId xmlns:a16="http://schemas.microsoft.com/office/drawing/2014/main" id="{87DC13FD-A387-1546-AD78-2B1A64F34D19}"/>
                  </a:ext>
                </a:extLst>
              </p:cNvPr>
              <p:cNvSpPr txBox="1">
                <a:spLocks noRot="1" noChangeAspect="1" noMove="1" noResize="1" noEditPoints="1" noAdjustHandles="1" noChangeArrowheads="1" noChangeShapeType="1" noTextEdit="1"/>
              </p:cNvSpPr>
              <p:nvPr/>
            </p:nvSpPr>
            <p:spPr>
              <a:xfrm>
                <a:off x="1175657" y="2540000"/>
                <a:ext cx="5471886" cy="738664"/>
              </a:xfrm>
              <a:prstGeom prst="rect">
                <a:avLst/>
              </a:prstGeom>
              <a:blipFill>
                <a:blip r:embed="rId5"/>
                <a:stretch>
                  <a:fillRect l="-23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BFF228B-BD6F-1048-B678-CC8E65C29316}"/>
              </a:ext>
            </a:extLst>
          </p:cNvPr>
          <p:cNvSpPr txBox="1"/>
          <p:nvPr/>
        </p:nvSpPr>
        <p:spPr>
          <a:xfrm>
            <a:off x="6420757" y="2910409"/>
            <a:ext cx="4227286" cy="307777"/>
          </a:xfrm>
          <a:prstGeom prst="rect">
            <a:avLst/>
          </a:prstGeom>
          <a:noFill/>
        </p:spPr>
        <p:txBody>
          <a:bodyPr wrap="square" rtlCol="0">
            <a:spAutoFit/>
          </a:bodyPr>
          <a:lstStyle/>
          <a:p>
            <a:r>
              <a:rPr lang="en-US" sz="1400" dirty="0"/>
              <a:t>The arrow reaches a maximum height after 2 seconds.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92008C-91DC-1D4E-AAC0-7EDC2AFBC869}"/>
                  </a:ext>
                </a:extLst>
              </p:cNvPr>
              <p:cNvSpPr txBox="1"/>
              <p:nvPr/>
            </p:nvSpPr>
            <p:spPr>
              <a:xfrm>
                <a:off x="7474857" y="3292044"/>
                <a:ext cx="2772229" cy="523220"/>
              </a:xfrm>
              <a:prstGeom prst="rect">
                <a:avLst/>
              </a:prstGeom>
              <a:noFill/>
            </p:spPr>
            <p:txBody>
              <a:bodyPr wrap="square" rtlCol="0">
                <a:spAutoFit/>
              </a:bodyPr>
              <a:lstStyle/>
              <a:p>
                <a:r>
                  <a:rPr lang="en-US" sz="1400" dirty="0"/>
                  <a:t>The maximum height is:</a:t>
                </a:r>
              </a:p>
              <a:p>
                <a14:m>
                  <m:oMath xmlns:m="http://schemas.openxmlformats.org/officeDocument/2006/math">
                    <m:r>
                      <a:rPr lang="en-US" sz="1400" b="0" i="1" smtClean="0">
                        <a:latin typeface="Cambria Math" panose="02040503050406030204" pitchFamily="18" charset="0"/>
                      </a:rPr>
                      <m:t>𝑠</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2</m:t>
                        </m:r>
                      </m:e>
                    </m:d>
                    <m:r>
                      <a:rPr lang="en-US" sz="1400" b="0" i="1" smtClean="0">
                        <a:latin typeface="Cambria Math" panose="02040503050406030204" pitchFamily="18" charset="0"/>
                      </a:rPr>
                      <m:t>=64</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2</m:t>
                        </m:r>
                      </m:e>
                    </m:d>
                    <m:r>
                      <a:rPr lang="en-US" sz="1400" b="0" i="1" smtClean="0">
                        <a:latin typeface="Cambria Math" panose="02040503050406030204" pitchFamily="18" charset="0"/>
                      </a:rPr>
                      <m:t>−16</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4</m:t>
                        </m:r>
                      </m:e>
                    </m:d>
                    <m:r>
                      <a:rPr lang="en-US" sz="1400" b="0" i="1" smtClean="0">
                        <a:latin typeface="Cambria Math" panose="02040503050406030204" pitchFamily="18" charset="0"/>
                      </a:rPr>
                      <m:t>=64</m:t>
                    </m:r>
                  </m:oMath>
                </a14:m>
                <a:r>
                  <a:rPr lang="en-US" sz="1400" dirty="0"/>
                  <a:t> feet</a:t>
                </a:r>
              </a:p>
            </p:txBody>
          </p:sp>
        </mc:Choice>
        <mc:Fallback xmlns="">
          <p:sp>
            <p:nvSpPr>
              <p:cNvPr id="8" name="TextBox 7">
                <a:extLst>
                  <a:ext uri="{FF2B5EF4-FFF2-40B4-BE49-F238E27FC236}">
                    <a16:creationId xmlns:a16="http://schemas.microsoft.com/office/drawing/2014/main" id="{FC92008C-91DC-1D4E-AAC0-7EDC2AFBC869}"/>
                  </a:ext>
                </a:extLst>
              </p:cNvPr>
              <p:cNvSpPr txBox="1">
                <a:spLocks noRot="1" noChangeAspect="1" noMove="1" noResize="1" noEditPoints="1" noAdjustHandles="1" noChangeArrowheads="1" noChangeShapeType="1" noTextEdit="1"/>
              </p:cNvSpPr>
              <p:nvPr/>
            </p:nvSpPr>
            <p:spPr>
              <a:xfrm>
                <a:off x="7474857" y="3292044"/>
                <a:ext cx="2772229" cy="523220"/>
              </a:xfrm>
              <a:prstGeom prst="rect">
                <a:avLst/>
              </a:prstGeom>
              <a:blipFill>
                <a:blip r:embed="rId6"/>
                <a:stretch>
                  <a:fillRect l="-457"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4DD305-C9F8-984F-A96F-C90BF99EE7C8}"/>
                  </a:ext>
                </a:extLst>
              </p:cNvPr>
              <p:cNvSpPr txBox="1"/>
              <p:nvPr/>
            </p:nvSpPr>
            <p:spPr>
              <a:xfrm>
                <a:off x="1175657" y="3976914"/>
                <a:ext cx="3323772" cy="307777"/>
              </a:xfrm>
              <a:prstGeom prst="rect">
                <a:avLst/>
              </a:prstGeom>
              <a:noFill/>
            </p:spPr>
            <p:txBody>
              <a:bodyPr wrap="square" rtlCol="0">
                <a:spAutoFit/>
              </a:bodyPr>
              <a:lstStyle/>
              <a:p>
                <a:r>
                  <a:rPr lang="en-US" sz="1400" dirty="0"/>
                  <a:t>The arrow hits the ground when </a:t>
                </a:r>
                <a14:m>
                  <m:oMath xmlns:m="http://schemas.openxmlformats.org/officeDocument/2006/math">
                    <m:r>
                      <a:rPr lang="en-US" sz="1400" b="0" i="1" smtClean="0">
                        <a:latin typeface="Cambria Math" panose="02040503050406030204" pitchFamily="18" charset="0"/>
                      </a:rPr>
                      <m:t>𝑠</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=0</m:t>
                    </m:r>
                  </m:oMath>
                </a14:m>
                <a:endParaRPr lang="en-US" sz="1400" dirty="0"/>
              </a:p>
            </p:txBody>
          </p:sp>
        </mc:Choice>
        <mc:Fallback xmlns="">
          <p:sp>
            <p:nvSpPr>
              <p:cNvPr id="9" name="TextBox 8">
                <a:extLst>
                  <a:ext uri="{FF2B5EF4-FFF2-40B4-BE49-F238E27FC236}">
                    <a16:creationId xmlns:a16="http://schemas.microsoft.com/office/drawing/2014/main" id="{D14DD305-C9F8-984F-A96F-C90BF99EE7C8}"/>
                  </a:ext>
                </a:extLst>
              </p:cNvPr>
              <p:cNvSpPr txBox="1">
                <a:spLocks noRot="1" noChangeAspect="1" noMove="1" noResize="1" noEditPoints="1" noAdjustHandles="1" noChangeArrowheads="1" noChangeShapeType="1" noTextEdit="1"/>
              </p:cNvSpPr>
              <p:nvPr/>
            </p:nvSpPr>
            <p:spPr>
              <a:xfrm>
                <a:off x="1175657" y="3976914"/>
                <a:ext cx="3323772" cy="307777"/>
              </a:xfrm>
              <a:prstGeom prst="rect">
                <a:avLst/>
              </a:prstGeom>
              <a:blipFill>
                <a:blip r:embed="rId7"/>
                <a:stretch>
                  <a:fillRect l="-382"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491824-E418-7C40-A9ED-6219278296BA}"/>
                  </a:ext>
                </a:extLst>
              </p:cNvPr>
              <p:cNvSpPr txBox="1"/>
              <p:nvPr/>
            </p:nvSpPr>
            <p:spPr>
              <a:xfrm>
                <a:off x="1175657" y="4412343"/>
                <a:ext cx="3773714"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64</m:t>
                      </m:r>
                      <m:r>
                        <a:rPr lang="en-US" sz="1400" b="0" i="1" smtClean="0">
                          <a:latin typeface="Cambria Math" panose="02040503050406030204" pitchFamily="18" charset="0"/>
                        </a:rPr>
                        <m:t>𝑡</m:t>
                      </m:r>
                      <m:r>
                        <a:rPr lang="en-US" sz="1400" b="0" i="1" smtClean="0">
                          <a:latin typeface="Cambria Math" panose="02040503050406030204" pitchFamily="18" charset="0"/>
                        </a:rPr>
                        <m:t>−16</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𝑡</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16</m:t>
                      </m:r>
                      <m:r>
                        <a:rPr lang="en-US" sz="1400" b="0" i="1" smtClean="0">
                          <a:latin typeface="Cambria Math" panose="02040503050406030204" pitchFamily="18" charset="0"/>
                        </a:rPr>
                        <m:t>𝑡</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4−</m:t>
                          </m:r>
                          <m:r>
                            <a:rPr lang="en-US" sz="1400" b="0" i="1" smtClean="0">
                              <a:latin typeface="Cambria Math" panose="02040503050406030204" pitchFamily="18" charset="0"/>
                            </a:rPr>
                            <m:t>𝑡</m:t>
                          </m:r>
                        </m:e>
                      </m:d>
                      <m:r>
                        <a:rPr lang="en-US" sz="1400" b="0" i="1" smtClean="0">
                          <a:latin typeface="Cambria Math" panose="02040503050406030204" pitchFamily="18" charset="0"/>
                        </a:rPr>
                        <m:t>=0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=0, 4</m:t>
                      </m:r>
                    </m:oMath>
                  </m:oMathPara>
                </a14:m>
                <a:endParaRPr lang="en-US" sz="1400" dirty="0"/>
              </a:p>
            </p:txBody>
          </p:sp>
        </mc:Choice>
        <mc:Fallback xmlns="">
          <p:sp>
            <p:nvSpPr>
              <p:cNvPr id="10" name="TextBox 9">
                <a:extLst>
                  <a:ext uri="{FF2B5EF4-FFF2-40B4-BE49-F238E27FC236}">
                    <a16:creationId xmlns:a16="http://schemas.microsoft.com/office/drawing/2014/main" id="{35491824-E418-7C40-A9ED-6219278296BA}"/>
                  </a:ext>
                </a:extLst>
              </p:cNvPr>
              <p:cNvSpPr txBox="1">
                <a:spLocks noRot="1" noChangeAspect="1" noMove="1" noResize="1" noEditPoints="1" noAdjustHandles="1" noChangeArrowheads="1" noChangeShapeType="1" noTextEdit="1"/>
              </p:cNvSpPr>
              <p:nvPr/>
            </p:nvSpPr>
            <p:spPr>
              <a:xfrm>
                <a:off x="1175657" y="4412343"/>
                <a:ext cx="3773714" cy="738664"/>
              </a:xfrm>
              <a:prstGeom prst="rect">
                <a:avLst/>
              </a:prstGeom>
              <a:blipFill>
                <a:blip r:embed="rId8"/>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758D80F-7928-4640-9BF6-E30A92FBD18E}"/>
              </a:ext>
            </a:extLst>
          </p:cNvPr>
          <p:cNvSpPr txBox="1"/>
          <p:nvPr/>
        </p:nvSpPr>
        <p:spPr>
          <a:xfrm>
            <a:off x="4760686" y="4412343"/>
            <a:ext cx="3773714" cy="307777"/>
          </a:xfrm>
          <a:prstGeom prst="rect">
            <a:avLst/>
          </a:prstGeom>
          <a:noFill/>
        </p:spPr>
        <p:txBody>
          <a:bodyPr wrap="square" rtlCol="0">
            <a:spAutoFit/>
          </a:bodyPr>
          <a:lstStyle/>
          <a:p>
            <a:r>
              <a:rPr lang="en-US" sz="1400" dirty="0"/>
              <a:t>The arrow hits the ground after 4 seconds.</a:t>
            </a:r>
          </a:p>
        </p:txBody>
      </p:sp>
    </p:spTree>
    <p:extLst>
      <p:ext uri="{BB962C8B-B14F-4D97-AF65-F5344CB8AC3E}">
        <p14:creationId xmlns:p14="http://schemas.microsoft.com/office/powerpoint/2010/main" val="316316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A06469-E174-2F40-BAF8-3D722C4B8211}"/>
                  </a:ext>
                </a:extLst>
              </p:cNvPr>
              <p:cNvSpPr>
                <a:spLocks noGrp="1"/>
              </p:cNvSpPr>
              <p:nvPr>
                <p:ph type="title"/>
              </p:nvPr>
            </p:nvSpPr>
            <p:spPr>
              <a:xfrm>
                <a:off x="620927" y="317611"/>
                <a:ext cx="10950146" cy="1426605"/>
              </a:xfrm>
            </p:spPr>
            <p:txBody>
              <a:bodyPr>
                <a:normAutofit/>
              </a:bodyPr>
              <a:lstStyle/>
              <a:p>
                <a:r>
                  <a:rPr lang="en-US" sz="1600" dirty="0"/>
                  <a:t>The percentage of people infected by a certain disease </a:t>
                </a:r>
                <a14:m>
                  <m:oMath xmlns:m="http://schemas.openxmlformats.org/officeDocument/2006/math">
                    <m:r>
                      <a:rPr lang="en-US" sz="1600" b="0" i="1" smtClean="0">
                        <a:latin typeface="Cambria Math" panose="02040503050406030204" pitchFamily="18" charset="0"/>
                      </a:rPr>
                      <m:t>𝑡</m:t>
                    </m:r>
                  </m:oMath>
                </a14:m>
                <a:r>
                  <a:rPr lang="en-US" sz="1600" dirty="0"/>
                  <a:t> days after it arrives to the city can be approximated by </a:t>
                </a:r>
                <a14:m>
                  <m:oMath xmlns:m="http://schemas.openxmlformats.org/officeDocument/2006/math">
                    <m:r>
                      <a:rPr lang="en-US" sz="1600" b="0" i="1" smtClean="0">
                        <a:latin typeface="Cambria Math" panose="02040503050406030204" pitchFamily="18" charset="0"/>
                      </a:rPr>
                      <m:t>𝑝</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=13.1</m:t>
                    </m:r>
                    <m:r>
                      <a:rPr lang="en-US" sz="1600" b="0" i="1" smtClean="0">
                        <a:latin typeface="Cambria Math" panose="02040503050406030204" pitchFamily="18" charset="0"/>
                      </a:rPr>
                      <m:t>𝑡</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/3</m:t>
                        </m:r>
                      </m:sup>
                    </m:sSup>
                  </m:oMath>
                </a14:m>
                <a:r>
                  <a:rPr lang="en-US" sz="1600" dirty="0"/>
                  <a:t> for </a:t>
                </a:r>
                <a14:m>
                  <m:oMath xmlns:m="http://schemas.openxmlformats.org/officeDocument/2006/math">
                    <m:r>
                      <a:rPr lang="en-US" sz="1600" b="0" i="1" smtClean="0">
                        <a:latin typeface="Cambria Math" panose="02040503050406030204" pitchFamily="18" charset="0"/>
                      </a:rPr>
                      <m:t>0≤</m:t>
                    </m:r>
                    <m:r>
                      <a:rPr lang="en-US" sz="1600" b="0" i="1" smtClean="0">
                        <a:latin typeface="Cambria Math" panose="02040503050406030204" pitchFamily="18" charset="0"/>
                      </a:rPr>
                      <m:t>𝑡</m:t>
                    </m:r>
                    <m:r>
                      <a:rPr lang="en-US" sz="1600" b="0" i="1" smtClean="0">
                        <a:latin typeface="Cambria Math" panose="02040503050406030204" pitchFamily="18" charset="0"/>
                      </a:rPr>
                      <m:t>≤20</m:t>
                    </m:r>
                  </m:oMath>
                </a14:m>
                <a:r>
                  <a:rPr lang="en-US" sz="1600" dirty="0"/>
                  <a:t>.</a:t>
                </a:r>
                <a:br>
                  <a:rPr lang="en-US" sz="1600" dirty="0"/>
                </a:br>
                <a:br>
                  <a:rPr lang="en-US" sz="1600" dirty="0"/>
                </a:br>
                <a:r>
                  <a:rPr lang="en-US" sz="1600" dirty="0"/>
                  <a:t>a. When does the percentage of people infected reach a maximum?</a:t>
                </a:r>
                <a:br>
                  <a:rPr lang="en-US" sz="1600" dirty="0"/>
                </a:br>
                <a:r>
                  <a:rPr lang="en-US" sz="1600" dirty="0"/>
                  <a:t>b. What is the maximum percentage of people infected?</a:t>
                </a:r>
                <a:br>
                  <a:rPr lang="en-US" sz="1600" dirty="0"/>
                </a:br>
                <a:r>
                  <a:rPr lang="en-US" sz="1600" dirty="0"/>
                  <a:t>c. What is happening to the percentage of people infected as times goes on?</a:t>
                </a:r>
              </a:p>
            </p:txBody>
          </p:sp>
        </mc:Choice>
        <mc:Fallback xmlns="">
          <p:sp>
            <p:nvSpPr>
              <p:cNvPr id="2" name="Title 1">
                <a:extLst>
                  <a:ext uri="{FF2B5EF4-FFF2-40B4-BE49-F238E27FC236}">
                    <a16:creationId xmlns:a16="http://schemas.microsoft.com/office/drawing/2014/main" id="{60A06469-E174-2F40-BAF8-3D722C4B8211}"/>
                  </a:ext>
                </a:extLst>
              </p:cNvPr>
              <p:cNvSpPr>
                <a:spLocks noGrp="1" noRot="1" noChangeAspect="1" noMove="1" noResize="1" noEditPoints="1" noAdjustHandles="1" noChangeArrowheads="1" noChangeShapeType="1" noTextEdit="1"/>
              </p:cNvSpPr>
              <p:nvPr>
                <p:ph type="title"/>
              </p:nvPr>
            </p:nvSpPr>
            <p:spPr>
              <a:xfrm>
                <a:off x="620927" y="317611"/>
                <a:ext cx="10950146" cy="1426605"/>
              </a:xfrm>
              <a:blipFill>
                <a:blip r:embed="rId2"/>
                <a:stretch>
                  <a:fillRect l="-232" t="-885" b="-44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3E495B-9545-2E40-8D3C-129B20AAA612}"/>
                  </a:ext>
                </a:extLst>
              </p:cNvPr>
              <p:cNvSpPr txBox="1"/>
              <p:nvPr/>
            </p:nvSpPr>
            <p:spPr>
              <a:xfrm>
                <a:off x="838201" y="1791730"/>
                <a:ext cx="2584622" cy="5142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𝑝</m:t>
                          </m:r>
                        </m:e>
                        <m:sup>
                          <m:r>
                            <a:rPr lang="en-US" sz="1400" b="0" i="1" smtClean="0">
                              <a:latin typeface="Cambria Math" panose="02040503050406030204" pitchFamily="18" charset="0"/>
                            </a:rPr>
                            <m:t>′</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=13.1</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/3</m:t>
                          </m:r>
                        </m:sup>
                      </m:sSup>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13.1</m:t>
                          </m:r>
                        </m:num>
                        <m:den>
                          <m:r>
                            <a:rPr lang="en-US" sz="1400" b="0" i="1" smtClean="0">
                              <a:latin typeface="Cambria Math" panose="02040503050406030204" pitchFamily="18" charset="0"/>
                            </a:rPr>
                            <m:t>3</m:t>
                          </m:r>
                        </m:den>
                      </m:f>
                      <m:r>
                        <a:rPr lang="en-US" sz="1400" b="0" i="1" smtClean="0">
                          <a:latin typeface="Cambria Math" panose="02040503050406030204" pitchFamily="18" charset="0"/>
                        </a:rPr>
                        <m:t>𝑡</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/3</m:t>
                          </m:r>
                        </m:sup>
                      </m:sSup>
                    </m:oMath>
                  </m:oMathPara>
                </a14:m>
                <a:endParaRPr lang="en-US" sz="1400" dirty="0"/>
              </a:p>
            </p:txBody>
          </p:sp>
        </mc:Choice>
        <mc:Fallback xmlns="">
          <p:sp>
            <p:nvSpPr>
              <p:cNvPr id="4" name="TextBox 3">
                <a:extLst>
                  <a:ext uri="{FF2B5EF4-FFF2-40B4-BE49-F238E27FC236}">
                    <a16:creationId xmlns:a16="http://schemas.microsoft.com/office/drawing/2014/main" id="{E53E495B-9545-2E40-8D3C-129B20AAA612}"/>
                  </a:ext>
                </a:extLst>
              </p:cNvPr>
              <p:cNvSpPr txBox="1">
                <a:spLocks noRot="1" noChangeAspect="1" noMove="1" noResize="1" noEditPoints="1" noAdjustHandles="1" noChangeArrowheads="1" noChangeShapeType="1" noTextEdit="1"/>
              </p:cNvSpPr>
              <p:nvPr/>
            </p:nvSpPr>
            <p:spPr>
              <a:xfrm>
                <a:off x="838201" y="1791730"/>
                <a:ext cx="2584622" cy="5142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3DAAC87-E307-0E46-A3A7-8F10441498DD}"/>
                  </a:ext>
                </a:extLst>
              </p:cNvPr>
              <p:cNvSpPr txBox="1"/>
              <p:nvPr/>
            </p:nvSpPr>
            <p:spPr>
              <a:xfrm>
                <a:off x="838198" y="2452766"/>
                <a:ext cx="3807941" cy="1121782"/>
              </a:xfrm>
              <a:prstGeom prst="rect">
                <a:avLst/>
              </a:prstGeom>
              <a:noFill/>
            </p:spPr>
            <p:txBody>
              <a:bodyPr wrap="square" rtlCol="0">
                <a:spAutoFit/>
              </a:bodyPr>
              <a:lstStyle/>
              <a:p>
                <a:r>
                  <a:rPr lang="en-US" sz="1400" dirty="0"/>
                  <a:t>Set this equal to 0 and solve for t:</a:t>
                </a:r>
              </a:p>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13.1</m:t>
                      </m:r>
                      <m:sSup>
                        <m:sSupPr>
                          <m:ctrlPr>
                            <a:rPr lang="en-US" sz="1400" i="1">
                              <a:latin typeface="Cambria Math" panose="02040503050406030204" pitchFamily="18" charset="0"/>
                            </a:rPr>
                          </m:ctrlPr>
                        </m:sSupPr>
                        <m:e>
                          <m:r>
                            <a:rPr lang="en-US" sz="1400" i="1">
                              <a:latin typeface="Cambria Math" panose="02040503050406030204" pitchFamily="18" charset="0"/>
                            </a:rPr>
                            <m:t>𝑒</m:t>
                          </m:r>
                        </m:e>
                        <m:sup>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/3</m:t>
                          </m:r>
                        </m:sup>
                      </m:sSup>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13.1</m:t>
                          </m:r>
                        </m:num>
                        <m:den>
                          <m:r>
                            <a:rPr lang="en-US" sz="1400" i="1">
                              <a:latin typeface="Cambria Math" panose="02040503050406030204" pitchFamily="18" charset="0"/>
                            </a:rPr>
                            <m:t>3</m:t>
                          </m:r>
                        </m:den>
                      </m:f>
                      <m:r>
                        <a:rPr lang="en-US" sz="1400" i="1">
                          <a:latin typeface="Cambria Math" panose="02040503050406030204" pitchFamily="18" charset="0"/>
                        </a:rPr>
                        <m:t>𝑡</m:t>
                      </m:r>
                      <m:sSup>
                        <m:sSupPr>
                          <m:ctrlPr>
                            <a:rPr lang="en-US" sz="1400" i="1">
                              <a:latin typeface="Cambria Math" panose="02040503050406030204" pitchFamily="18" charset="0"/>
                            </a:rPr>
                          </m:ctrlPr>
                        </m:sSupPr>
                        <m:e>
                          <m:r>
                            <a:rPr lang="en-US" sz="1400" i="1">
                              <a:latin typeface="Cambria Math" panose="02040503050406030204" pitchFamily="18" charset="0"/>
                            </a:rPr>
                            <m:t>𝑒</m:t>
                          </m:r>
                        </m:e>
                        <m:sup>
                          <m:r>
                            <a:rPr lang="en-US" sz="1400" i="1">
                              <a:latin typeface="Cambria Math" panose="02040503050406030204" pitchFamily="18" charset="0"/>
                            </a:rPr>
                            <m:t>−</m:t>
                          </m:r>
                          <m:f>
                            <m:fPr>
                              <m:type m:val="lin"/>
                              <m:ctrlPr>
                                <a:rPr lang="en-US" sz="1400" i="1" smtClean="0">
                                  <a:latin typeface="Cambria Math" panose="02040503050406030204" pitchFamily="18" charset="0"/>
                                </a:rPr>
                              </m:ctrlPr>
                            </m:fPr>
                            <m:num>
                              <m:r>
                                <a:rPr lang="en-US" sz="1400" b="0" i="1" smtClean="0">
                                  <a:latin typeface="Cambria Math" panose="02040503050406030204" pitchFamily="18" charset="0"/>
                                </a:rPr>
                                <m:t>𝑡</m:t>
                              </m:r>
                            </m:num>
                            <m:den>
                              <m:r>
                                <a:rPr lang="en-US" sz="1400" b="0" i="1" smtClean="0">
                                  <a:latin typeface="Cambria Math" panose="02040503050406030204" pitchFamily="18" charset="0"/>
                                </a:rPr>
                                <m:t>3</m:t>
                              </m:r>
                            </m:den>
                          </m:f>
                        </m:sup>
                      </m:sSup>
                      <m:r>
                        <a:rPr lang="en-US" sz="1400" b="0" i="1" smtClean="0">
                          <a:latin typeface="Cambria Math" panose="02040503050406030204" pitchFamily="18" charset="0"/>
                        </a:rPr>
                        <m:t>=0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13.1</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/3</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3</m:t>
                              </m:r>
                            </m:den>
                          </m:f>
                          <m:r>
                            <a:rPr lang="en-US" sz="1400" b="0" i="1" smtClean="0">
                              <a:latin typeface="Cambria Math" panose="02040503050406030204" pitchFamily="18" charset="0"/>
                            </a:rPr>
                            <m:t>𝑡</m:t>
                          </m:r>
                        </m:e>
                      </m:d>
                      <m:r>
                        <a:rPr lang="en-US" sz="1400" b="0" i="1" smtClean="0">
                          <a:latin typeface="Cambria Math" panose="02040503050406030204" pitchFamily="18" charset="0"/>
                        </a:rPr>
                        <m:t>=0</m:t>
                      </m:r>
                    </m:oMath>
                  </m:oMathPara>
                </a14:m>
                <a:endParaRPr lang="en-US" sz="1400" dirty="0"/>
              </a:p>
            </p:txBody>
          </p:sp>
        </mc:Choice>
        <mc:Fallback>
          <p:sp>
            <p:nvSpPr>
              <p:cNvPr id="5" name="TextBox 4">
                <a:extLst>
                  <a:ext uri="{FF2B5EF4-FFF2-40B4-BE49-F238E27FC236}">
                    <a16:creationId xmlns:a16="http://schemas.microsoft.com/office/drawing/2014/main" id="{03DAAC87-E307-0E46-A3A7-8F10441498DD}"/>
                  </a:ext>
                </a:extLst>
              </p:cNvPr>
              <p:cNvSpPr txBox="1">
                <a:spLocks noRot="1" noChangeAspect="1" noMove="1" noResize="1" noEditPoints="1" noAdjustHandles="1" noChangeArrowheads="1" noChangeShapeType="1" noTextEdit="1"/>
              </p:cNvSpPr>
              <p:nvPr/>
            </p:nvSpPr>
            <p:spPr>
              <a:xfrm>
                <a:off x="838198" y="2452766"/>
                <a:ext cx="3807941" cy="1121782"/>
              </a:xfrm>
              <a:prstGeom prst="rect">
                <a:avLst/>
              </a:prstGeom>
              <a:blipFill>
                <a:blip r:embed="rId4"/>
                <a:stretch>
                  <a:fillRect l="-3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89A2A8-091A-EC4A-A968-50553E62AC3B}"/>
                  </a:ext>
                </a:extLst>
              </p:cNvPr>
              <p:cNvSpPr txBox="1"/>
              <p:nvPr/>
            </p:nvSpPr>
            <p:spPr>
              <a:xfrm>
                <a:off x="838197" y="3651231"/>
                <a:ext cx="3807941" cy="720518"/>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13.1</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/3</m:t>
                        </m:r>
                      </m:sup>
                    </m:sSup>
                  </m:oMath>
                </a14:m>
                <a:r>
                  <a:rPr lang="en-US" sz="1400" dirty="0"/>
                  <a:t> is never 0. So all we need to solve is:</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3</m:t>
                          </m:r>
                        </m:den>
                      </m:f>
                      <m:r>
                        <a:rPr lang="en-US" sz="1400" b="0" i="1" smtClean="0">
                          <a:latin typeface="Cambria Math" panose="02040503050406030204" pitchFamily="18" charset="0"/>
                        </a:rPr>
                        <m:t>𝑡</m:t>
                      </m:r>
                      <m:r>
                        <a:rPr lang="en-US" sz="1400" b="0" i="1" smtClean="0">
                          <a:latin typeface="Cambria Math" panose="02040503050406030204" pitchFamily="18" charset="0"/>
                        </a:rPr>
                        <m:t>=0</m:t>
                      </m:r>
                    </m:oMath>
                  </m:oMathPara>
                </a14:m>
                <a:endParaRPr lang="en-US" sz="1400" dirty="0"/>
              </a:p>
            </p:txBody>
          </p:sp>
        </mc:Choice>
        <mc:Fallback xmlns="">
          <p:sp>
            <p:nvSpPr>
              <p:cNvPr id="6" name="TextBox 5">
                <a:extLst>
                  <a:ext uri="{FF2B5EF4-FFF2-40B4-BE49-F238E27FC236}">
                    <a16:creationId xmlns:a16="http://schemas.microsoft.com/office/drawing/2014/main" id="{9989A2A8-091A-EC4A-A968-50553E62AC3B}"/>
                  </a:ext>
                </a:extLst>
              </p:cNvPr>
              <p:cNvSpPr txBox="1">
                <a:spLocks noRot="1" noChangeAspect="1" noMove="1" noResize="1" noEditPoints="1" noAdjustHandles="1" noChangeArrowheads="1" noChangeShapeType="1" noTextEdit="1"/>
              </p:cNvSpPr>
              <p:nvPr/>
            </p:nvSpPr>
            <p:spPr>
              <a:xfrm>
                <a:off x="838197" y="3651231"/>
                <a:ext cx="3807941" cy="720518"/>
              </a:xfrm>
              <a:prstGeom prst="rect">
                <a:avLst/>
              </a:prstGeom>
              <a:blipFill>
                <a:blip r:embed="rId5"/>
                <a:stretch>
                  <a:fillRect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B542EA9-F7D5-5349-A7D7-0AC5271021B6}"/>
                  </a:ext>
                </a:extLst>
              </p:cNvPr>
              <p:cNvSpPr txBox="1"/>
              <p:nvPr/>
            </p:nvSpPr>
            <p:spPr>
              <a:xfrm>
                <a:off x="838197" y="4448432"/>
                <a:ext cx="3439886" cy="523220"/>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=3</m:t>
                    </m:r>
                  </m:oMath>
                </a14:m>
                <a:r>
                  <a:rPr lang="en-US" sz="1400" dirty="0"/>
                  <a:t>, so the percentage of people infected reaches a maximum after 3 days.</a:t>
                </a:r>
              </a:p>
            </p:txBody>
          </p:sp>
        </mc:Choice>
        <mc:Fallback xmlns="">
          <p:sp>
            <p:nvSpPr>
              <p:cNvPr id="7" name="TextBox 6">
                <a:extLst>
                  <a:ext uri="{FF2B5EF4-FFF2-40B4-BE49-F238E27FC236}">
                    <a16:creationId xmlns:a16="http://schemas.microsoft.com/office/drawing/2014/main" id="{0B542EA9-F7D5-5349-A7D7-0AC5271021B6}"/>
                  </a:ext>
                </a:extLst>
              </p:cNvPr>
              <p:cNvSpPr txBox="1">
                <a:spLocks noRot="1" noChangeAspect="1" noMove="1" noResize="1" noEditPoints="1" noAdjustHandles="1" noChangeArrowheads="1" noChangeShapeType="1" noTextEdit="1"/>
              </p:cNvSpPr>
              <p:nvPr/>
            </p:nvSpPr>
            <p:spPr>
              <a:xfrm>
                <a:off x="838197" y="4448432"/>
                <a:ext cx="3439886" cy="523220"/>
              </a:xfrm>
              <a:prstGeom prst="rect">
                <a:avLst/>
              </a:prstGeom>
              <a:blipFill>
                <a:blip r:embed="rId6"/>
                <a:stretch>
                  <a:fillRect l="-368"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844811-AF1E-B844-8430-B20032961EE0}"/>
                  </a:ext>
                </a:extLst>
              </p:cNvPr>
              <p:cNvSpPr txBox="1"/>
              <p:nvPr/>
            </p:nvSpPr>
            <p:spPr>
              <a:xfrm>
                <a:off x="6685005" y="1902941"/>
                <a:ext cx="5016844" cy="321114"/>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e>
                    </m:d>
                    <m:r>
                      <a:rPr lang="en-US" sz="1400" b="0" i="1" smtClean="0">
                        <a:latin typeface="Cambria Math" panose="02040503050406030204" pitchFamily="18" charset="0"/>
                      </a:rPr>
                      <m:t>=13.1</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e>
                    </m:d>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f>
                          <m:fPr>
                            <m:type m:val="lin"/>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3</m:t>
                            </m:r>
                          </m:den>
                        </m:f>
                      </m:sup>
                    </m:sSup>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14.46%</m:t>
                    </m:r>
                  </m:oMath>
                </a14:m>
                <a:r>
                  <a:rPr lang="en-US" sz="1400" dirty="0"/>
                  <a:t> (rounded to two decimal places)</a:t>
                </a:r>
              </a:p>
            </p:txBody>
          </p:sp>
        </mc:Choice>
        <mc:Fallback xmlns="">
          <p:sp>
            <p:nvSpPr>
              <p:cNvPr id="8" name="TextBox 7">
                <a:extLst>
                  <a:ext uri="{FF2B5EF4-FFF2-40B4-BE49-F238E27FC236}">
                    <a16:creationId xmlns:a16="http://schemas.microsoft.com/office/drawing/2014/main" id="{51844811-AF1E-B844-8430-B20032961EE0}"/>
                  </a:ext>
                </a:extLst>
              </p:cNvPr>
              <p:cNvSpPr txBox="1">
                <a:spLocks noRot="1" noChangeAspect="1" noMove="1" noResize="1" noEditPoints="1" noAdjustHandles="1" noChangeArrowheads="1" noChangeShapeType="1" noTextEdit="1"/>
              </p:cNvSpPr>
              <p:nvPr/>
            </p:nvSpPr>
            <p:spPr>
              <a:xfrm>
                <a:off x="6685005" y="1902941"/>
                <a:ext cx="5016844" cy="321114"/>
              </a:xfrm>
              <a:prstGeom prst="rect">
                <a:avLst/>
              </a:prstGeom>
              <a:blipFill>
                <a:blip r:embed="rId7"/>
                <a:stretch>
                  <a:fillRect t="-65385" b="-8076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A34A04D-7B79-B448-B32E-6E3734F972AB}"/>
              </a:ext>
            </a:extLst>
          </p:cNvPr>
          <p:cNvSpPr txBox="1"/>
          <p:nvPr/>
        </p:nvSpPr>
        <p:spPr>
          <a:xfrm>
            <a:off x="6699519" y="3185258"/>
            <a:ext cx="4886068" cy="307777"/>
          </a:xfrm>
          <a:prstGeom prst="rect">
            <a:avLst/>
          </a:prstGeom>
          <a:noFill/>
        </p:spPr>
        <p:txBody>
          <a:bodyPr wrap="square" rtlCol="0">
            <a:spAutoFit/>
          </a:bodyPr>
          <a:lstStyle/>
          <a:p>
            <a:r>
              <a:rPr lang="en-US" sz="1400" dirty="0"/>
              <a:t>Thus, the maximum percentage of people infected is 14.46%.</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8E8CCB-C4D2-DC46-99CD-F1868841F92A}"/>
                  </a:ext>
                </a:extLst>
              </p:cNvPr>
              <p:cNvSpPr txBox="1"/>
              <p:nvPr/>
            </p:nvSpPr>
            <p:spPr>
              <a:xfrm>
                <a:off x="6685005" y="2421924"/>
                <a:ext cx="4114800" cy="757067"/>
              </a:xfrm>
              <a:prstGeom prst="rect">
                <a:avLst/>
              </a:prstGeom>
              <a:noFill/>
            </p:spPr>
            <p:txBody>
              <a:bodyPr wrap="square" rtlCol="0">
                <a:spAutoFit/>
              </a:bodyPr>
              <a:lstStyle/>
              <a:p>
                <a:r>
                  <a:rPr lang="en-US" sz="1400" dirty="0"/>
                  <a:t>Test the endpoints of the interval:</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0</m:t>
                          </m:r>
                        </m:e>
                      </m:d>
                      <m:r>
                        <a:rPr lang="en-US" sz="1400" b="0" i="1" smtClean="0">
                          <a:latin typeface="Cambria Math" panose="02040503050406030204" pitchFamily="18" charset="0"/>
                        </a:rPr>
                        <m:t>=0</m:t>
                      </m:r>
                    </m:oMath>
                  </m:oMathPara>
                </a14:m>
                <a:endParaRPr lang="en-US" sz="14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20</m:t>
                          </m:r>
                        </m:e>
                      </m:d>
                      <m:r>
                        <a:rPr lang="en-US" sz="1400" b="0" i="1" smtClean="0">
                          <a:latin typeface="Cambria Math" panose="02040503050406030204" pitchFamily="18" charset="0"/>
                        </a:rPr>
                        <m:t>=13.1</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20</m:t>
                          </m:r>
                        </m:e>
                      </m:d>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f>
                            <m:fPr>
                              <m:type m:val="lin"/>
                              <m:ctrlPr>
                                <a:rPr lang="en-US" sz="1400" b="0" i="1" smtClean="0">
                                  <a:latin typeface="Cambria Math" panose="02040503050406030204" pitchFamily="18" charset="0"/>
                                </a:rPr>
                              </m:ctrlPr>
                            </m:fPr>
                            <m:num>
                              <m:r>
                                <a:rPr lang="en-US" sz="1400" b="0" i="1" smtClean="0">
                                  <a:latin typeface="Cambria Math" panose="02040503050406030204" pitchFamily="18" charset="0"/>
                                </a:rPr>
                                <m:t>−20</m:t>
                              </m:r>
                            </m:num>
                            <m:den>
                              <m:r>
                                <a:rPr lang="en-US" sz="1400" b="0" i="1" smtClean="0">
                                  <a:latin typeface="Cambria Math" panose="02040503050406030204" pitchFamily="18" charset="0"/>
                                </a:rPr>
                                <m:t>3</m:t>
                              </m:r>
                            </m:den>
                          </m:f>
                        </m:sup>
                      </m:sSup>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0.33</m:t>
                      </m:r>
                    </m:oMath>
                  </m:oMathPara>
                </a14:m>
                <a:endParaRPr lang="en-US" sz="1400" dirty="0"/>
              </a:p>
            </p:txBody>
          </p:sp>
        </mc:Choice>
        <mc:Fallback xmlns="">
          <p:sp>
            <p:nvSpPr>
              <p:cNvPr id="10" name="TextBox 9">
                <a:extLst>
                  <a:ext uri="{FF2B5EF4-FFF2-40B4-BE49-F238E27FC236}">
                    <a16:creationId xmlns:a16="http://schemas.microsoft.com/office/drawing/2014/main" id="{4C8E8CCB-C4D2-DC46-99CD-F1868841F92A}"/>
                  </a:ext>
                </a:extLst>
              </p:cNvPr>
              <p:cNvSpPr txBox="1">
                <a:spLocks noRot="1" noChangeAspect="1" noMove="1" noResize="1" noEditPoints="1" noAdjustHandles="1" noChangeArrowheads="1" noChangeShapeType="1" noTextEdit="1"/>
              </p:cNvSpPr>
              <p:nvPr/>
            </p:nvSpPr>
            <p:spPr>
              <a:xfrm>
                <a:off x="6685005" y="2421924"/>
                <a:ext cx="4114800" cy="757067"/>
              </a:xfrm>
              <a:prstGeom prst="rect">
                <a:avLst/>
              </a:prstGeom>
              <a:blipFill>
                <a:blip r:embed="rId8"/>
                <a:stretch>
                  <a:fillRect l="-308" t="-1667" b="-35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E06301D-E7DD-0749-A49F-4E1AD53175B3}"/>
              </a:ext>
            </a:extLst>
          </p:cNvPr>
          <p:cNvSpPr txBox="1"/>
          <p:nvPr/>
        </p:nvSpPr>
        <p:spPr>
          <a:xfrm>
            <a:off x="5076370" y="4011490"/>
            <a:ext cx="2155371" cy="523220"/>
          </a:xfrm>
          <a:prstGeom prst="rect">
            <a:avLst/>
          </a:prstGeom>
          <a:noFill/>
        </p:spPr>
        <p:txBody>
          <a:bodyPr wrap="square" rtlCol="0">
            <a:spAutoFit/>
          </a:bodyPr>
          <a:lstStyle/>
          <a:p>
            <a:r>
              <a:rPr lang="en-US" sz="1400" dirty="0"/>
              <a:t>Graph the function to determine its pattern.</a:t>
            </a:r>
          </a:p>
        </p:txBody>
      </p:sp>
      <p:pic>
        <p:nvPicPr>
          <p:cNvPr id="15" name="Picture 14">
            <a:extLst>
              <a:ext uri="{FF2B5EF4-FFF2-40B4-BE49-F238E27FC236}">
                <a16:creationId xmlns:a16="http://schemas.microsoft.com/office/drawing/2014/main" id="{1D5B8C32-3A6E-F241-8B66-285E574603BB}"/>
              </a:ext>
            </a:extLst>
          </p:cNvPr>
          <p:cNvPicPr>
            <a:picLocks noChangeAspect="1"/>
          </p:cNvPicPr>
          <p:nvPr/>
        </p:nvPicPr>
        <p:blipFill>
          <a:blip r:embed="rId9"/>
          <a:stretch>
            <a:fillRect/>
          </a:stretch>
        </p:blipFill>
        <p:spPr>
          <a:xfrm>
            <a:off x="7053943" y="3574548"/>
            <a:ext cx="5059094" cy="3200400"/>
          </a:xfrm>
          <a:prstGeom prst="rect">
            <a:avLst/>
          </a:prstGeom>
        </p:spPr>
      </p:pic>
      <p:sp>
        <p:nvSpPr>
          <p:cNvPr id="16" name="TextBox 15">
            <a:extLst>
              <a:ext uri="{FF2B5EF4-FFF2-40B4-BE49-F238E27FC236}">
                <a16:creationId xmlns:a16="http://schemas.microsoft.com/office/drawing/2014/main" id="{50320808-148E-5B43-97F4-2B790D170D8A}"/>
              </a:ext>
            </a:extLst>
          </p:cNvPr>
          <p:cNvSpPr txBox="1"/>
          <p:nvPr/>
        </p:nvSpPr>
        <p:spPr>
          <a:xfrm>
            <a:off x="5076370" y="4997877"/>
            <a:ext cx="2041321" cy="738664"/>
          </a:xfrm>
          <a:prstGeom prst="rect">
            <a:avLst/>
          </a:prstGeom>
          <a:noFill/>
        </p:spPr>
        <p:txBody>
          <a:bodyPr wrap="square" rtlCol="0">
            <a:spAutoFit/>
          </a:bodyPr>
          <a:lstStyle/>
          <a:p>
            <a:r>
              <a:rPr lang="en-US" sz="1400" dirty="0"/>
              <a:t>The function begins by increasing then it decreases.</a:t>
            </a:r>
          </a:p>
        </p:txBody>
      </p:sp>
    </p:spTree>
    <p:extLst>
      <p:ext uri="{BB962C8B-B14F-4D97-AF65-F5344CB8AC3E}">
        <p14:creationId xmlns:p14="http://schemas.microsoft.com/office/powerpoint/2010/main" val="233670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3"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39FD3D-DA45-DA49-831B-FEEB49A5B1C9}"/>
                  </a:ext>
                </a:extLst>
              </p:cNvPr>
              <p:cNvSpPr>
                <a:spLocks noGrp="1"/>
              </p:cNvSpPr>
              <p:nvPr>
                <p:ph type="title"/>
              </p:nvPr>
            </p:nvSpPr>
            <p:spPr>
              <a:xfrm>
                <a:off x="722086" y="190953"/>
                <a:ext cx="10515600" cy="1325563"/>
              </a:xfrm>
            </p:spPr>
            <p:txBody>
              <a:bodyPr>
                <a:normAutofit/>
              </a:bodyPr>
              <a:lstStyle/>
              <a:p>
                <a:pPr/>
                <a:r>
                  <a:rPr lang="en-US" sz="1600" dirty="0"/>
                  <a:t>An oil tanker is leaking oil at a rate given in barrels per hour by the function below, where t is the time in hours after the tanker hits a hidden rock. </a:t>
                </a:r>
                <a:br>
                  <a:rPr lang="en-US" sz="1600" dirty="0"/>
                </a:b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𝐿</m:t>
                          </m:r>
                        </m:e>
                        <m:sup>
                          <m:r>
                            <a:rPr lang="en-US" sz="1600" b="0" i="1" smtClean="0">
                              <a:latin typeface="Cambria Math" panose="02040503050406030204" pitchFamily="18" charset="0"/>
                            </a:rPr>
                            <m:t>′</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80</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ln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+1</m:t>
                                  </m:r>
                                </m:e>
                              </m:d>
                            </m:e>
                          </m:func>
                        </m:num>
                        <m:den>
                          <m:r>
                            <a:rPr lang="en-US" sz="1600" b="0" i="1" smtClean="0">
                              <a:latin typeface="Cambria Math" panose="02040503050406030204" pitchFamily="18" charset="0"/>
                            </a:rPr>
                            <m:t>𝑡</m:t>
                          </m:r>
                          <m:r>
                            <a:rPr lang="en-US" sz="1600" b="0" i="1" smtClean="0">
                              <a:latin typeface="Cambria Math" panose="02040503050406030204" pitchFamily="18" charset="0"/>
                            </a:rPr>
                            <m:t>+1</m:t>
                          </m:r>
                        </m:den>
                      </m:f>
                    </m:oMath>
                  </m:oMathPara>
                </a14:m>
                <a:br>
                  <a:rPr lang="en-US" sz="1600" dirty="0"/>
                </a:br>
                <a:endParaRPr lang="en-US" sz="1600" dirty="0"/>
              </a:p>
            </p:txBody>
          </p:sp>
        </mc:Choice>
        <mc:Fallback xmlns="">
          <p:sp>
            <p:nvSpPr>
              <p:cNvPr id="2" name="Title 1">
                <a:extLst>
                  <a:ext uri="{FF2B5EF4-FFF2-40B4-BE49-F238E27FC236}">
                    <a16:creationId xmlns:a16="http://schemas.microsoft.com/office/drawing/2014/main" id="{D439FD3D-DA45-DA49-831B-FEEB49A5B1C9}"/>
                  </a:ext>
                </a:extLst>
              </p:cNvPr>
              <p:cNvSpPr>
                <a:spLocks noGrp="1" noRot="1" noChangeAspect="1" noMove="1" noResize="1" noEditPoints="1" noAdjustHandles="1" noChangeArrowheads="1" noChangeShapeType="1" noTextEdit="1"/>
              </p:cNvSpPr>
              <p:nvPr>
                <p:ph type="title"/>
              </p:nvPr>
            </p:nvSpPr>
            <p:spPr>
              <a:xfrm>
                <a:off x="722086" y="190953"/>
                <a:ext cx="10515600" cy="1325563"/>
              </a:xfrm>
              <a:blipFill>
                <a:blip r:embed="rId2"/>
                <a:stretch>
                  <a:fillRect l="-241" r="-24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31BBEA1-AD87-404C-8732-E52DDCEF5EE9}"/>
              </a:ext>
            </a:extLst>
          </p:cNvPr>
          <p:cNvSpPr txBox="1"/>
          <p:nvPr/>
        </p:nvSpPr>
        <p:spPr>
          <a:xfrm>
            <a:off x="707571" y="1748744"/>
            <a:ext cx="5635169" cy="307777"/>
          </a:xfrm>
          <a:prstGeom prst="rect">
            <a:avLst/>
          </a:prstGeom>
          <a:noFill/>
        </p:spPr>
        <p:txBody>
          <a:bodyPr wrap="square" rtlCol="0">
            <a:spAutoFit/>
          </a:bodyPr>
          <a:lstStyle/>
          <a:p>
            <a:r>
              <a:rPr lang="en-US" sz="1400" dirty="0"/>
              <a:t>Find the total number of barrels the tanker will leak during the first day.</a:t>
            </a:r>
          </a:p>
        </p:txBody>
      </p:sp>
      <p:sp>
        <p:nvSpPr>
          <p:cNvPr id="6" name="TextBox 5">
            <a:extLst>
              <a:ext uri="{FF2B5EF4-FFF2-40B4-BE49-F238E27FC236}">
                <a16:creationId xmlns:a16="http://schemas.microsoft.com/office/drawing/2014/main" id="{F73DEA7E-1A49-D847-BCC3-15DF65A81755}"/>
              </a:ext>
            </a:extLst>
          </p:cNvPr>
          <p:cNvSpPr txBox="1"/>
          <p:nvPr/>
        </p:nvSpPr>
        <p:spPr>
          <a:xfrm>
            <a:off x="707572" y="2373716"/>
            <a:ext cx="3657600" cy="307777"/>
          </a:xfrm>
          <a:prstGeom prst="rect">
            <a:avLst/>
          </a:prstGeom>
          <a:noFill/>
        </p:spPr>
        <p:txBody>
          <a:bodyPr wrap="square" rtlCol="0">
            <a:spAutoFit/>
          </a:bodyPr>
          <a:lstStyle/>
          <a:p>
            <a:r>
              <a:rPr lang="en-US" sz="1400" dirty="0"/>
              <a:t>Thus, we have to integrate from 0 to 24.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059EF5-3ED5-2C4A-B3FA-E32CDD0D70D0}"/>
                  </a:ext>
                </a:extLst>
              </p:cNvPr>
              <p:cNvSpPr txBox="1"/>
              <p:nvPr/>
            </p:nvSpPr>
            <p:spPr>
              <a:xfrm>
                <a:off x="722086" y="2844800"/>
                <a:ext cx="4169227" cy="1044004"/>
              </a:xfrm>
              <a:prstGeom prst="rect">
                <a:avLst/>
              </a:prstGeom>
              <a:noFill/>
            </p:spPr>
            <p:txBody>
              <a:bodyPr wrap="square" rtlCol="0">
                <a:spAutoFit/>
              </a:bodyPr>
              <a:lstStyle/>
              <a:p>
                <a:r>
                  <a:rPr lang="en-US" sz="1400" dirty="0"/>
                  <a:t>Let </a:t>
                </a:r>
                <a14:m>
                  <m:oMath xmlns:m="http://schemas.openxmlformats.org/officeDocument/2006/math">
                    <m:r>
                      <a:rPr lang="en-US" sz="1400" b="0" i="1" smtClean="0">
                        <a:latin typeface="Cambria Math" panose="02040503050406030204" pitchFamily="18" charset="0"/>
                      </a:rPr>
                      <m:t>𝑢</m:t>
                    </m:r>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r>
                              <a:rPr lang="en-US" sz="1400" b="0" i="1" smtClean="0">
                                <a:latin typeface="Cambria Math" panose="02040503050406030204" pitchFamily="18" charset="0"/>
                              </a:rPr>
                              <m:t>+1</m:t>
                            </m:r>
                          </m:e>
                        </m:d>
                      </m:e>
                    </m:func>
                  </m:oMath>
                </a14:m>
                <a:r>
                  <a:rPr lang="en-US" sz="1400" dirty="0"/>
                  <a:t>. Then </a:t>
                </a:r>
                <a14:m>
                  <m:oMath xmlns:m="http://schemas.openxmlformats.org/officeDocument/2006/math">
                    <m:r>
                      <a:rPr lang="en-US" sz="1400" b="0" i="1" smtClean="0">
                        <a:latin typeface="Cambria Math" panose="02040503050406030204" pitchFamily="18" charset="0"/>
                      </a:rPr>
                      <m:t>𝑑𝑢</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𝑡</m:t>
                        </m:r>
                        <m:r>
                          <a:rPr lang="en-US" sz="1400" b="0" i="1" smtClean="0">
                            <a:latin typeface="Cambria Math" panose="02040503050406030204" pitchFamily="18" charset="0"/>
                          </a:rPr>
                          <m:t>+1</m:t>
                        </m:r>
                      </m:den>
                    </m:f>
                    <m:r>
                      <a:rPr lang="en-US" sz="1400" b="0" i="1" smtClean="0">
                        <a:latin typeface="Cambria Math" panose="02040503050406030204" pitchFamily="18" charset="0"/>
                      </a:rPr>
                      <m:t>𝑑𝑡</m:t>
                    </m:r>
                  </m:oMath>
                </a14:m>
                <a:endParaRPr lang="en-US" sz="1400" dirty="0"/>
              </a:p>
              <a:p>
                <a:endParaRPr lang="en-US" sz="1400" dirty="0"/>
              </a:p>
              <a:p>
                <a:r>
                  <a:rPr lang="en-US" sz="1400" dirty="0"/>
                  <a:t>The limits of integration change from </a:t>
                </a:r>
                <a14:m>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=0</m:t>
                    </m:r>
                  </m:oMath>
                </a14:m>
                <a:r>
                  <a:rPr lang="en-US" sz="1400" dirty="0"/>
                  <a:t> and </a:t>
                </a:r>
                <a14:m>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=24</m:t>
                    </m:r>
                  </m:oMath>
                </a14:m>
                <a:r>
                  <a:rPr lang="en-US" sz="1400" dirty="0"/>
                  <a:t> to </a:t>
                </a:r>
                <a14:m>
                  <m:oMath xmlns:m="http://schemas.openxmlformats.org/officeDocument/2006/math">
                    <m:r>
                      <a:rPr lang="en-US" sz="1400" b="0" i="1" smtClean="0">
                        <a:latin typeface="Cambria Math" panose="02040503050406030204" pitchFamily="18" charset="0"/>
                      </a:rPr>
                      <m:t>𝑢</m:t>
                    </m:r>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1</m:t>
                        </m:r>
                      </m:e>
                    </m:func>
                  </m:oMath>
                </a14:m>
                <a:r>
                  <a:rPr lang="en-US" sz="1400" dirty="0"/>
                  <a:t> and </a:t>
                </a:r>
                <a14:m>
                  <m:oMath xmlns:m="http://schemas.openxmlformats.org/officeDocument/2006/math">
                    <m:r>
                      <a:rPr lang="en-US" sz="1400" b="0" i="1" smtClean="0">
                        <a:latin typeface="Cambria Math" panose="02040503050406030204" pitchFamily="18" charset="0"/>
                      </a:rPr>
                      <m:t>𝑢</m:t>
                    </m:r>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25</m:t>
                        </m:r>
                      </m:e>
                    </m:func>
                  </m:oMath>
                </a14:m>
                <a:r>
                  <a:rPr lang="en-US" sz="1400" dirty="0"/>
                  <a:t> </a:t>
                </a:r>
              </a:p>
            </p:txBody>
          </p:sp>
        </mc:Choice>
        <mc:Fallback xmlns="">
          <p:sp>
            <p:nvSpPr>
              <p:cNvPr id="7" name="TextBox 6">
                <a:extLst>
                  <a:ext uri="{FF2B5EF4-FFF2-40B4-BE49-F238E27FC236}">
                    <a16:creationId xmlns:a16="http://schemas.microsoft.com/office/drawing/2014/main" id="{64059EF5-3ED5-2C4A-B3FA-E32CDD0D70D0}"/>
                  </a:ext>
                </a:extLst>
              </p:cNvPr>
              <p:cNvSpPr txBox="1">
                <a:spLocks noRot="1" noChangeAspect="1" noMove="1" noResize="1" noEditPoints="1" noAdjustHandles="1" noChangeArrowheads="1" noChangeShapeType="1" noTextEdit="1"/>
              </p:cNvSpPr>
              <p:nvPr/>
            </p:nvSpPr>
            <p:spPr>
              <a:xfrm>
                <a:off x="722086" y="2844800"/>
                <a:ext cx="4169227" cy="1044004"/>
              </a:xfrm>
              <a:prstGeom prst="rect">
                <a:avLst/>
              </a:prstGeom>
              <a:blipFill>
                <a:blip r:embed="rId3"/>
                <a:stretch>
                  <a:fillRect l="-304"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2EAFF8-EF23-984F-BB07-2437DF27CD08}"/>
                  </a:ext>
                </a:extLst>
              </p:cNvPr>
              <p:cNvSpPr txBox="1"/>
              <p:nvPr/>
            </p:nvSpPr>
            <p:spPr>
              <a:xfrm>
                <a:off x="232227" y="4072077"/>
                <a:ext cx="3657600" cy="5944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US" sz="1400" i="1" smtClean="0">
                              <a:latin typeface="Cambria Math" panose="02040503050406030204" pitchFamily="18" charset="0"/>
                            </a:rPr>
                          </m:ctrlPr>
                        </m:naryPr>
                        <m:sub>
                          <m:r>
                            <m:rPr>
                              <m:brk m:alnAt="23"/>
                            </m:rPr>
                            <a:rPr lang="en-US" sz="1400" b="0" i="1" smtClean="0">
                              <a:latin typeface="Cambria Math" panose="02040503050406030204" pitchFamily="18" charset="0"/>
                            </a:rPr>
                            <m:t>0</m:t>
                          </m:r>
                        </m:sub>
                        <m:sup>
                          <m:r>
                            <a:rPr lang="en-US" sz="1400" b="0" i="1" smtClean="0">
                              <a:latin typeface="Cambria Math" panose="02040503050406030204" pitchFamily="18" charset="0"/>
                            </a:rPr>
                            <m:t>24</m:t>
                          </m:r>
                        </m:sup>
                        <m:e>
                          <m:f>
                            <m:fPr>
                              <m:ctrlPr>
                                <a:rPr lang="en-US" sz="1400" i="1" smtClean="0">
                                  <a:latin typeface="Cambria Math" panose="02040503050406030204" pitchFamily="18" charset="0"/>
                                </a:rPr>
                              </m:ctrlPr>
                            </m:fPr>
                            <m:num>
                              <m:r>
                                <a:rPr lang="en-US" sz="1400" b="0" i="1" smtClean="0">
                                  <a:latin typeface="Cambria Math" panose="02040503050406030204" pitchFamily="18" charset="0"/>
                                </a:rPr>
                                <m:t>80</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r>
                                        <a:rPr lang="en-US" sz="1400" b="0" i="1" smtClean="0">
                                          <a:latin typeface="Cambria Math" panose="02040503050406030204" pitchFamily="18" charset="0"/>
                                        </a:rPr>
                                        <m:t>+1</m:t>
                                      </m:r>
                                    </m:e>
                                  </m:d>
                                </m:e>
                              </m:func>
                            </m:num>
                            <m:den>
                              <m:r>
                                <a:rPr lang="en-US" sz="1400" b="0" i="1" smtClean="0">
                                  <a:latin typeface="Cambria Math" panose="02040503050406030204" pitchFamily="18" charset="0"/>
                                </a:rPr>
                                <m:t>𝑡</m:t>
                              </m:r>
                              <m:r>
                                <a:rPr lang="en-US" sz="1400" b="0" i="1" smtClean="0">
                                  <a:latin typeface="Cambria Math" panose="02040503050406030204" pitchFamily="18" charset="0"/>
                                </a:rPr>
                                <m:t>+1</m:t>
                              </m:r>
                            </m:den>
                          </m:f>
                          <m:r>
                            <a:rPr lang="en-US" sz="1400" b="0" i="1" smtClean="0">
                              <a:latin typeface="Cambria Math" panose="02040503050406030204" pitchFamily="18" charset="0"/>
                            </a:rPr>
                            <m:t>𝑑𝑡</m:t>
                          </m:r>
                        </m:e>
                      </m:nary>
                      <m:r>
                        <a:rPr lang="en-US" sz="1400" b="0" i="1" smtClean="0">
                          <a:latin typeface="Cambria Math" panose="02040503050406030204" pitchFamily="18" charset="0"/>
                        </a:rPr>
                        <m:t>=</m:t>
                      </m:r>
                      <m:nary>
                        <m:naryPr>
                          <m:ctrlPr>
                            <a:rPr lang="en-US" sz="1400" b="0" i="1" smtClean="0">
                              <a:latin typeface="Cambria Math" panose="02040503050406030204" pitchFamily="18" charset="0"/>
                            </a:rPr>
                          </m:ctrlPr>
                        </m:naryPr>
                        <m:sub>
                          <m:func>
                            <m:funcPr>
                              <m:ctrlPr>
                                <a:rPr lang="en-US" sz="1400" b="0" i="1" smtClean="0">
                                  <a:latin typeface="Cambria Math" panose="02040503050406030204" pitchFamily="18" charset="0"/>
                                </a:rPr>
                              </m:ctrlPr>
                            </m:funcPr>
                            <m:fName>
                              <m:r>
                                <m:rPr>
                                  <m:sty m:val="p"/>
                                  <m:brk m:alnAt="23"/>
                                </m:rPr>
                                <a:rPr lang="en-US" sz="1400" b="0" i="0" smtClean="0">
                                  <a:latin typeface="Cambria Math" panose="02040503050406030204" pitchFamily="18" charset="0"/>
                                </a:rPr>
                                <m:t>l</m:t>
                              </m:r>
                              <m:r>
                                <m:rPr>
                                  <m:sty m:val="p"/>
                                </m:rPr>
                                <a:rPr lang="en-US" sz="1400" b="0" i="0" smtClean="0">
                                  <a:latin typeface="Cambria Math" panose="02040503050406030204" pitchFamily="18" charset="0"/>
                                </a:rPr>
                                <m:t>n</m:t>
                              </m:r>
                            </m:fName>
                            <m:e>
                              <m:r>
                                <a:rPr lang="en-US" sz="1400" b="0" i="1" smtClean="0">
                                  <a:latin typeface="Cambria Math" panose="02040503050406030204" pitchFamily="18" charset="0"/>
                                </a:rPr>
                                <m:t>1</m:t>
                              </m:r>
                            </m:e>
                          </m:func>
                        </m:sub>
                        <m:sup>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25</m:t>
                              </m:r>
                            </m:e>
                          </m:func>
                        </m:sup>
                        <m:e>
                          <m:r>
                            <a:rPr lang="en-US" sz="1400" b="0" i="1" smtClean="0">
                              <a:latin typeface="Cambria Math" panose="02040503050406030204" pitchFamily="18" charset="0"/>
                            </a:rPr>
                            <m:t>80</m:t>
                          </m:r>
                          <m:r>
                            <a:rPr lang="en-US" sz="1400" b="0" i="1" smtClean="0">
                              <a:latin typeface="Cambria Math" panose="02040503050406030204" pitchFamily="18" charset="0"/>
                            </a:rPr>
                            <m:t>𝑢</m:t>
                          </m:r>
                        </m:e>
                      </m:nary>
                      <m:r>
                        <a:rPr lang="en-US" sz="1400" b="0" i="1" smtClean="0">
                          <a:latin typeface="Cambria Math" panose="02040503050406030204" pitchFamily="18" charset="0"/>
                        </a:rPr>
                        <m:t>𝑑𝑢</m:t>
                      </m:r>
                    </m:oMath>
                  </m:oMathPara>
                </a14:m>
                <a:endParaRPr lang="en-US" sz="1400" dirty="0"/>
              </a:p>
            </p:txBody>
          </p:sp>
        </mc:Choice>
        <mc:Fallback xmlns="">
          <p:sp>
            <p:nvSpPr>
              <p:cNvPr id="8" name="TextBox 7">
                <a:extLst>
                  <a:ext uri="{FF2B5EF4-FFF2-40B4-BE49-F238E27FC236}">
                    <a16:creationId xmlns:a16="http://schemas.microsoft.com/office/drawing/2014/main" id="{0C2EAFF8-EF23-984F-BB07-2437DF27CD08}"/>
                  </a:ext>
                </a:extLst>
              </p:cNvPr>
              <p:cNvSpPr txBox="1">
                <a:spLocks noRot="1" noChangeAspect="1" noMove="1" noResize="1" noEditPoints="1" noAdjustHandles="1" noChangeArrowheads="1" noChangeShapeType="1" noTextEdit="1"/>
              </p:cNvSpPr>
              <p:nvPr/>
            </p:nvSpPr>
            <p:spPr>
              <a:xfrm>
                <a:off x="232227" y="4072077"/>
                <a:ext cx="3657600" cy="594458"/>
              </a:xfrm>
              <a:prstGeom prst="rect">
                <a:avLst/>
              </a:prstGeom>
              <a:blipFill>
                <a:blip r:embed="rId4"/>
                <a:stretch>
                  <a:fillRect l="-6574" t="-140426" b="-20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358C59-6F29-3D48-8434-0055D687B76B}"/>
                  </a:ext>
                </a:extLst>
              </p:cNvPr>
              <p:cNvSpPr txBox="1"/>
              <p:nvPr/>
            </p:nvSpPr>
            <p:spPr>
              <a:xfrm>
                <a:off x="707571" y="4971611"/>
                <a:ext cx="5094514" cy="307777"/>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=40</m:t>
                    </m:r>
                    <m:sSup>
                      <m:sSupPr>
                        <m:ctrlPr>
                          <a:rPr lang="en-US" sz="1400" b="0" i="1" smtClean="0">
                            <a:latin typeface="Cambria Math" panose="02040503050406030204" pitchFamily="18" charset="0"/>
                          </a:rPr>
                        </m:ctrlPr>
                      </m:sSupPr>
                      <m:e>
                        <m:d>
                          <m:dPr>
                            <m:ctrlPr>
                              <a:rPr lang="en-US" sz="1400" b="0" i="1" smtClean="0">
                                <a:latin typeface="Cambria Math" panose="02040503050406030204" pitchFamily="18" charset="0"/>
                              </a:rPr>
                            </m:ctrlPr>
                          </m:dPr>
                          <m:e>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25</m:t>
                                </m:r>
                              </m:e>
                            </m:func>
                          </m:e>
                        </m:d>
                      </m:e>
                      <m:sup>
                        <m:r>
                          <a:rPr lang="en-US" sz="1400" b="0" i="1" smtClean="0">
                            <a:latin typeface="Cambria Math" panose="02040503050406030204" pitchFamily="18" charset="0"/>
                          </a:rPr>
                          <m:t>2</m:t>
                        </m:r>
                      </m:sup>
                    </m:sSup>
                    <m:r>
                      <a:rPr lang="en-US" sz="1400" b="0" i="1" smtClean="0">
                        <a:latin typeface="Cambria Math" panose="02040503050406030204" pitchFamily="18" charset="0"/>
                      </a:rPr>
                      <m:t>−40</m:t>
                    </m:r>
                    <m:sSup>
                      <m:sSupPr>
                        <m:ctrlPr>
                          <a:rPr lang="en-US" sz="1400" b="0" i="1" smtClean="0">
                            <a:latin typeface="Cambria Math" panose="02040503050406030204" pitchFamily="18" charset="0"/>
                          </a:rPr>
                        </m:ctrlPr>
                      </m:sSupPr>
                      <m:e>
                        <m:d>
                          <m:dPr>
                            <m:ctrlPr>
                              <a:rPr lang="en-US" sz="1400" b="0" i="1" smtClean="0">
                                <a:latin typeface="Cambria Math" panose="02040503050406030204" pitchFamily="18" charset="0"/>
                              </a:rPr>
                            </m:ctrlPr>
                          </m:dPr>
                          <m:e>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1</m:t>
                                </m:r>
                              </m:e>
                            </m:func>
                          </m:e>
                        </m:d>
                      </m:e>
                      <m:sup>
                        <m:r>
                          <a:rPr lang="en-US" sz="1400" b="0" i="1" smtClean="0">
                            <a:latin typeface="Cambria Math" panose="02040503050406030204" pitchFamily="18" charset="0"/>
                          </a:rPr>
                          <m:t>2</m:t>
                        </m:r>
                      </m:sup>
                    </m:sSup>
                    <m:r>
                      <a:rPr lang="en-US" sz="1400">
                        <a:latin typeface="Cambria Math" panose="02040503050406030204" pitchFamily="18" charset="0"/>
                        <a:ea typeface="Cambria Math" panose="02040503050406030204" pitchFamily="18" charset="0"/>
                      </a:rPr>
                      <m:t>≈</m:t>
                    </m:r>
                    <m:r>
                      <a:rPr lang="en-US" sz="1400" b="0" i="0" smtClean="0">
                        <a:latin typeface="Cambria Math" panose="02040503050406030204" pitchFamily="18" charset="0"/>
                      </a:rPr>
                      <m:t>414</m:t>
                    </m:r>
                  </m:oMath>
                </a14:m>
                <a:r>
                  <a:rPr lang="en-US" sz="1400" dirty="0"/>
                  <a:t> (rounded to the nearest integer)</a:t>
                </a:r>
              </a:p>
            </p:txBody>
          </p:sp>
        </mc:Choice>
        <mc:Fallback xmlns="">
          <p:sp>
            <p:nvSpPr>
              <p:cNvPr id="9" name="TextBox 8">
                <a:extLst>
                  <a:ext uri="{FF2B5EF4-FFF2-40B4-BE49-F238E27FC236}">
                    <a16:creationId xmlns:a16="http://schemas.microsoft.com/office/drawing/2014/main" id="{92358C59-6F29-3D48-8434-0055D687B76B}"/>
                  </a:ext>
                </a:extLst>
              </p:cNvPr>
              <p:cNvSpPr txBox="1">
                <a:spLocks noRot="1" noChangeAspect="1" noMove="1" noResize="1" noEditPoints="1" noAdjustHandles="1" noChangeArrowheads="1" noChangeShapeType="1" noTextEdit="1"/>
              </p:cNvSpPr>
              <p:nvPr/>
            </p:nvSpPr>
            <p:spPr>
              <a:xfrm>
                <a:off x="707571" y="4971611"/>
                <a:ext cx="5094514" cy="307777"/>
              </a:xfrm>
              <a:prstGeom prst="rect">
                <a:avLst/>
              </a:prstGeom>
              <a:blipFill>
                <a:blip r:embed="rId5"/>
                <a:stretch>
                  <a:fillRect b="-1538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151C071F-C14E-C147-877D-583FDE829F4E}"/>
              </a:ext>
            </a:extLst>
          </p:cNvPr>
          <p:cNvSpPr txBox="1"/>
          <p:nvPr/>
        </p:nvSpPr>
        <p:spPr>
          <a:xfrm>
            <a:off x="722086" y="2056521"/>
            <a:ext cx="4807857" cy="307777"/>
          </a:xfrm>
          <a:prstGeom prst="rect">
            <a:avLst/>
          </a:prstGeom>
          <a:noFill/>
        </p:spPr>
        <p:txBody>
          <a:bodyPr wrap="square" rtlCol="0">
            <a:spAutoFit/>
          </a:bodyPr>
          <a:lstStyle/>
          <a:p>
            <a:r>
              <a:rPr lang="en-US" sz="1400" b="1" dirty="0">
                <a:solidFill>
                  <a:srgbClr val="FF0000"/>
                </a:solidFill>
              </a:rPr>
              <a:t>Caution: Check the units – time in L’(t) is given in hours.</a:t>
            </a:r>
          </a:p>
        </p:txBody>
      </p:sp>
      <p:sp>
        <p:nvSpPr>
          <p:cNvPr id="11" name="TextBox 10">
            <a:extLst>
              <a:ext uri="{FF2B5EF4-FFF2-40B4-BE49-F238E27FC236}">
                <a16:creationId xmlns:a16="http://schemas.microsoft.com/office/drawing/2014/main" id="{1BD04D8D-5B5A-3A42-987B-27DC8A9612EB}"/>
              </a:ext>
            </a:extLst>
          </p:cNvPr>
          <p:cNvSpPr txBox="1"/>
          <p:nvPr/>
        </p:nvSpPr>
        <p:spPr>
          <a:xfrm>
            <a:off x="6662059" y="2364298"/>
            <a:ext cx="5413828" cy="307777"/>
          </a:xfrm>
          <a:prstGeom prst="rect">
            <a:avLst/>
          </a:prstGeom>
          <a:noFill/>
        </p:spPr>
        <p:txBody>
          <a:bodyPr wrap="square" rtlCol="0">
            <a:spAutoFit/>
          </a:bodyPr>
          <a:lstStyle/>
          <a:p>
            <a:r>
              <a:rPr lang="en-US" sz="1400" dirty="0"/>
              <a:t>Find the total number of barrels the tanker will leak during the 2</a:t>
            </a:r>
            <a:r>
              <a:rPr lang="en-US" sz="1400" baseline="30000" dirty="0"/>
              <a:t>nd</a:t>
            </a:r>
            <a:r>
              <a:rPr lang="en-US" sz="1400" dirty="0"/>
              <a:t> day.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DA38D05-0D1E-D74A-A6B6-AFB069E1C8AA}"/>
                  </a:ext>
                </a:extLst>
              </p:cNvPr>
              <p:cNvSpPr txBox="1"/>
              <p:nvPr/>
            </p:nvSpPr>
            <p:spPr>
              <a:xfrm>
                <a:off x="6662059" y="2870961"/>
                <a:ext cx="4575627" cy="10178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US" sz="1400" i="1" smtClean="0">
                              <a:latin typeface="Cambria Math" panose="02040503050406030204" pitchFamily="18" charset="0"/>
                            </a:rPr>
                          </m:ctrlPr>
                        </m:naryPr>
                        <m:sub>
                          <m:func>
                            <m:funcPr>
                              <m:ctrlPr>
                                <a:rPr lang="en-US" sz="1400" b="0" i="1" smtClean="0">
                                  <a:latin typeface="Cambria Math" panose="02040503050406030204" pitchFamily="18" charset="0"/>
                                </a:rPr>
                              </m:ctrlPr>
                            </m:funcPr>
                            <m:fName>
                              <m:r>
                                <m:rPr>
                                  <m:sty m:val="p"/>
                                  <m:brk m:alnAt="23"/>
                                </m:rPr>
                                <a:rPr lang="en-US" sz="1400" b="0" i="0" smtClean="0">
                                  <a:latin typeface="Cambria Math" panose="02040503050406030204" pitchFamily="18" charset="0"/>
                                </a:rPr>
                                <m:t>l</m:t>
                              </m:r>
                              <m:r>
                                <m:rPr>
                                  <m:sty m:val="p"/>
                                </m:rPr>
                                <a:rPr lang="en-US" sz="1400" b="0" i="0" smtClean="0">
                                  <a:latin typeface="Cambria Math" panose="02040503050406030204" pitchFamily="18" charset="0"/>
                                </a:rPr>
                                <m:t>n</m:t>
                              </m:r>
                            </m:fName>
                            <m:e>
                              <m:r>
                                <a:rPr lang="en-US" sz="1400" b="0" i="1" smtClean="0">
                                  <a:latin typeface="Cambria Math" panose="02040503050406030204" pitchFamily="18" charset="0"/>
                                </a:rPr>
                                <m:t>25</m:t>
                              </m:r>
                            </m:e>
                          </m:func>
                        </m:sub>
                        <m:sup>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49</m:t>
                              </m:r>
                            </m:e>
                          </m:func>
                        </m:sup>
                        <m:e>
                          <m:r>
                            <a:rPr lang="en-US" sz="1400" b="0" i="1" smtClean="0">
                              <a:latin typeface="Cambria Math" panose="02040503050406030204" pitchFamily="18" charset="0"/>
                            </a:rPr>
                            <m:t>80</m:t>
                          </m:r>
                          <m:r>
                            <a:rPr lang="en-US" sz="1400" b="0" i="1" smtClean="0">
                              <a:latin typeface="Cambria Math" panose="02040503050406030204" pitchFamily="18" charset="0"/>
                            </a:rPr>
                            <m:t>𝑢</m:t>
                          </m:r>
                        </m:e>
                      </m:nary>
                      <m:r>
                        <a:rPr lang="en-US" sz="1400" b="0" i="1" smtClean="0">
                          <a:latin typeface="Cambria Math" panose="02040503050406030204" pitchFamily="18" charset="0"/>
                        </a:rPr>
                        <m:t>𝑑𝑢</m:t>
                      </m:r>
                      <m:r>
                        <a:rPr lang="en-US" sz="1400" b="0" i="1" smtClean="0">
                          <a:latin typeface="Cambria Math" panose="02040503050406030204" pitchFamily="18" charset="0"/>
                        </a:rPr>
                        <m:t>=40</m:t>
                      </m:r>
                      <m:sSup>
                        <m:sSupPr>
                          <m:ctrlPr>
                            <a:rPr lang="en-US" sz="1400" b="0" i="1" smtClean="0">
                              <a:latin typeface="Cambria Math" panose="02040503050406030204" pitchFamily="18" charset="0"/>
                            </a:rPr>
                          </m:ctrlPr>
                        </m:sSupPr>
                        <m:e>
                          <m:d>
                            <m:dPr>
                              <m:ctrlPr>
                                <a:rPr lang="en-US" sz="1400" b="0" i="1" smtClean="0">
                                  <a:latin typeface="Cambria Math" panose="02040503050406030204" pitchFamily="18" charset="0"/>
                                </a:rPr>
                              </m:ctrlPr>
                            </m:dPr>
                            <m:e>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49</m:t>
                                  </m:r>
                                </m:e>
                              </m:func>
                            </m:e>
                          </m:d>
                        </m:e>
                        <m:sup>
                          <m:r>
                            <a:rPr lang="en-US" sz="1400" b="0" i="1" smtClean="0">
                              <a:latin typeface="Cambria Math" panose="02040503050406030204" pitchFamily="18" charset="0"/>
                            </a:rPr>
                            <m:t>2</m:t>
                          </m:r>
                        </m:sup>
                      </m:sSup>
                      <m:r>
                        <a:rPr lang="en-US" sz="1400" b="0" i="1" smtClean="0">
                          <a:latin typeface="Cambria Math" panose="02040503050406030204" pitchFamily="18" charset="0"/>
                        </a:rPr>
                        <m:t>−40</m:t>
                      </m:r>
                      <m:sSup>
                        <m:sSupPr>
                          <m:ctrlPr>
                            <a:rPr lang="en-US" sz="1400" b="0" i="1" smtClean="0">
                              <a:latin typeface="Cambria Math" panose="02040503050406030204" pitchFamily="18" charset="0"/>
                            </a:rPr>
                          </m:ctrlPr>
                        </m:sSupPr>
                        <m:e>
                          <m:d>
                            <m:dPr>
                              <m:ctrlPr>
                                <a:rPr lang="en-US" sz="1400" b="0" i="1" smtClean="0">
                                  <a:latin typeface="Cambria Math" panose="02040503050406030204" pitchFamily="18" charset="0"/>
                                </a:rPr>
                              </m:ctrlPr>
                            </m:dPr>
                            <m:e>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r>
                                    <a:rPr lang="en-US" sz="1400" b="0" i="1" smtClean="0">
                                      <a:latin typeface="Cambria Math" panose="02040503050406030204" pitchFamily="18" charset="0"/>
                                    </a:rPr>
                                    <m:t>25</m:t>
                                  </m:r>
                                </m:e>
                              </m:func>
                            </m:e>
                          </m:d>
                        </m:e>
                        <m:sup>
                          <m:r>
                            <a:rPr lang="en-US" sz="1400" b="0" i="1" smtClean="0">
                              <a:latin typeface="Cambria Math" panose="02040503050406030204" pitchFamily="18" charset="0"/>
                            </a:rPr>
                            <m:t>2</m:t>
                          </m:r>
                        </m:sup>
                      </m:sSup>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rPr>
                        <m:t>191</m:t>
                      </m:r>
                    </m:oMath>
                  </m:oMathPara>
                </a14:m>
                <a:endParaRPr lang="en-US" sz="1400" dirty="0"/>
              </a:p>
              <a:p>
                <a:endParaRPr lang="en-US" sz="1400" dirty="0"/>
              </a:p>
              <a:p>
                <a:pPr algn="ctr"/>
                <a:r>
                  <a:rPr lang="en-US" sz="1400" dirty="0"/>
                  <a:t>(rounded to the nearest integer)</a:t>
                </a:r>
              </a:p>
            </p:txBody>
          </p:sp>
        </mc:Choice>
        <mc:Fallback xmlns="">
          <p:sp>
            <p:nvSpPr>
              <p:cNvPr id="12" name="TextBox 11">
                <a:extLst>
                  <a:ext uri="{FF2B5EF4-FFF2-40B4-BE49-F238E27FC236}">
                    <a16:creationId xmlns:a16="http://schemas.microsoft.com/office/drawing/2014/main" id="{9DA38D05-0D1E-D74A-A6B6-AFB069E1C8AA}"/>
                  </a:ext>
                </a:extLst>
              </p:cNvPr>
              <p:cNvSpPr txBox="1">
                <a:spLocks noRot="1" noChangeAspect="1" noMove="1" noResize="1" noEditPoints="1" noAdjustHandles="1" noChangeArrowheads="1" noChangeShapeType="1" noTextEdit="1"/>
              </p:cNvSpPr>
              <p:nvPr/>
            </p:nvSpPr>
            <p:spPr>
              <a:xfrm>
                <a:off x="6662059" y="2870961"/>
                <a:ext cx="4575627" cy="1017843"/>
              </a:xfrm>
              <a:prstGeom prst="rect">
                <a:avLst/>
              </a:prstGeom>
              <a:blipFill>
                <a:blip r:embed="rId6"/>
                <a:stretch>
                  <a:fillRect l="-5540" t="-80247" b="-80247"/>
                </a:stretch>
              </a:blipFill>
            </p:spPr>
            <p:txBody>
              <a:bodyPr/>
              <a:lstStyle/>
              <a:p>
                <a:r>
                  <a:rPr lang="en-US">
                    <a:noFill/>
                  </a:rPr>
                  <a:t> </a:t>
                </a:r>
              </a:p>
            </p:txBody>
          </p:sp>
        </mc:Fallback>
      </mc:AlternateContent>
    </p:spTree>
    <p:extLst>
      <p:ext uri="{BB962C8B-B14F-4D97-AF65-F5344CB8AC3E}">
        <p14:creationId xmlns:p14="http://schemas.microsoft.com/office/powerpoint/2010/main" val="245529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1504-CB7D-2646-9FF1-92CE644EAB8A}"/>
              </a:ext>
            </a:extLst>
          </p:cNvPr>
          <p:cNvSpPr>
            <a:spLocks noGrp="1"/>
          </p:cNvSpPr>
          <p:nvPr>
            <p:ph type="title"/>
          </p:nvPr>
        </p:nvSpPr>
        <p:spPr>
          <a:xfrm>
            <a:off x="707571" y="190955"/>
            <a:ext cx="10515600" cy="1129846"/>
          </a:xfrm>
        </p:spPr>
        <p:txBody>
          <a:bodyPr>
            <a:normAutofit/>
          </a:bodyPr>
          <a:lstStyle/>
          <a:p>
            <a:r>
              <a:rPr lang="en-US" sz="1600" dirty="0"/>
              <a:t>Researchers have shown that the number of successive dry days that occur after a rainstorm for a particular region is a random variable that is exponentially distributed with a = 1/6. What is the probability that 10 or more successive dry days occur after a rainstorm? What is the probability that fewer than 2 successive dry days occur after a rainstorm?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5CADEC1-761F-064C-8B8E-15DF2DCDA254}"/>
                  </a:ext>
                </a:extLst>
              </p:cNvPr>
              <p:cNvSpPr txBox="1"/>
              <p:nvPr/>
            </p:nvSpPr>
            <p:spPr>
              <a:xfrm>
                <a:off x="707571" y="1436914"/>
                <a:ext cx="7463972" cy="307777"/>
              </a:xfrm>
              <a:prstGeom prst="rect">
                <a:avLst/>
              </a:prstGeom>
              <a:noFill/>
            </p:spPr>
            <p:txBody>
              <a:bodyPr wrap="square" rtlCol="0">
                <a:spAutoFit/>
              </a:bodyPr>
              <a:lstStyle/>
              <a:p>
                <a:r>
                  <a:rPr lang="en-US" sz="1400" dirty="0"/>
                  <a:t>The exponential distribution is given by </a:t>
                </a:r>
                <a14:m>
                  <m:oMath xmlns:m="http://schemas.openxmlformats.org/officeDocument/2006/math">
                    <m:r>
                      <a:rPr lang="en-US" sz="1400" b="0" i="1" smtClean="0">
                        <a:latin typeface="Cambria Math" panose="02040503050406030204" pitchFamily="18" charset="0"/>
                      </a:rPr>
                      <m:t>𝑓</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𝑎</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𝑎𝑥</m:t>
                        </m:r>
                      </m:sup>
                    </m:sSup>
                  </m:oMath>
                </a14:m>
                <a:r>
                  <a:rPr lang="en-US" sz="1400" dirty="0"/>
                  <a:t> for </a:t>
                </a:r>
                <a14:m>
                  <m:oMath xmlns:m="http://schemas.openxmlformats.org/officeDocument/2006/math">
                    <m:r>
                      <a:rPr lang="en-US" sz="1400" b="0" i="1" smtClean="0">
                        <a:latin typeface="Cambria Math" panose="02040503050406030204" pitchFamily="18" charset="0"/>
                      </a:rPr>
                      <m:t>𝑥</m:t>
                    </m:r>
                  </m:oMath>
                </a14:m>
                <a:r>
                  <a:rPr lang="en-US" sz="1400" dirty="0"/>
                  <a:t> in </a:t>
                </a:r>
                <a14:m>
                  <m:oMath xmlns:m="http://schemas.openxmlformats.org/officeDocument/2006/math">
                    <m:d>
                      <m:dPr>
                        <m:begChr m:val="["/>
                        <m:endChr m:val=""/>
                        <m:ctrlPr>
                          <a:rPr lang="en-US" sz="1400" i="1" smtClean="0">
                            <a:latin typeface="Cambria Math" panose="02040503050406030204" pitchFamily="18" charset="0"/>
                          </a:rPr>
                        </m:ctrlPr>
                      </m:dPr>
                      <m:e>
                        <m:d>
                          <m:dPr>
                            <m:begChr m:val=""/>
                            <m:ctrlPr>
                              <a:rPr lang="en-US" sz="1400" i="1" smtClean="0">
                                <a:latin typeface="Cambria Math" panose="02040503050406030204" pitchFamily="18" charset="0"/>
                              </a:rPr>
                            </m:ctrlPr>
                          </m:dPr>
                          <m:e>
                            <m:r>
                              <a:rPr lang="en-US" sz="1400" b="0" i="1" smtClean="0">
                                <a:latin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e>
                        </m:d>
                      </m:e>
                    </m:d>
                  </m:oMath>
                </a14:m>
                <a:r>
                  <a:rPr lang="en-US" sz="1400" dirty="0"/>
                  <a:t>, where </a:t>
                </a:r>
                <a14:m>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m:t>
                    </m:r>
                    <m:f>
                      <m:fPr>
                        <m:type m:val="lin"/>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1</m:t>
                        </m:r>
                      </m:num>
                      <m:den>
                        <m:r>
                          <a:rPr lang="en-US" sz="1400" b="0" i="1" smtClean="0">
                            <a:latin typeface="Cambria Math" panose="02040503050406030204" pitchFamily="18" charset="0"/>
                            <a:ea typeface="Cambria Math" panose="02040503050406030204" pitchFamily="18" charset="0"/>
                          </a:rPr>
                          <m:t>𝑎</m:t>
                        </m:r>
                      </m:den>
                    </m:f>
                  </m:oMath>
                </a14:m>
                <a:r>
                  <a:rPr lang="en-US" sz="1400" dirty="0"/>
                  <a:t> and </a:t>
                </a:r>
                <a14:m>
                  <m:oMath xmlns:m="http://schemas.openxmlformats.org/officeDocument/2006/math">
                    <m:r>
                      <a:rPr lang="en-US" sz="1400" i="1" smtClean="0">
                        <a:latin typeface="Cambria Math" panose="02040503050406030204" pitchFamily="18" charset="0"/>
                        <a:ea typeface="Cambria Math" panose="02040503050406030204" pitchFamily="18" charset="0"/>
                      </a:rPr>
                      <m:t>𝜎</m:t>
                    </m:r>
                    <m:r>
                      <a:rPr lang="en-US" sz="1400" b="0" i="1" smtClean="0">
                        <a:latin typeface="Cambria Math" panose="02040503050406030204" pitchFamily="18" charset="0"/>
                        <a:ea typeface="Cambria Math" panose="02040503050406030204" pitchFamily="18" charset="0"/>
                      </a:rPr>
                      <m:t>=</m:t>
                    </m:r>
                    <m:f>
                      <m:fPr>
                        <m:type m:val="lin"/>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1</m:t>
                        </m:r>
                      </m:num>
                      <m:den>
                        <m:r>
                          <a:rPr lang="en-US" sz="1400" b="0" i="1" smtClean="0">
                            <a:latin typeface="Cambria Math" panose="02040503050406030204" pitchFamily="18" charset="0"/>
                            <a:ea typeface="Cambria Math" panose="02040503050406030204" pitchFamily="18" charset="0"/>
                          </a:rPr>
                          <m:t>𝑎</m:t>
                        </m:r>
                      </m:den>
                    </m:f>
                  </m:oMath>
                </a14:m>
                <a:r>
                  <a:rPr lang="en-US" sz="1400" dirty="0"/>
                  <a:t>.</a:t>
                </a:r>
              </a:p>
            </p:txBody>
          </p:sp>
        </mc:Choice>
        <mc:Fallback xmlns="">
          <p:sp>
            <p:nvSpPr>
              <p:cNvPr id="3" name="TextBox 2">
                <a:extLst>
                  <a:ext uri="{FF2B5EF4-FFF2-40B4-BE49-F238E27FC236}">
                    <a16:creationId xmlns:a16="http://schemas.microsoft.com/office/drawing/2014/main" id="{15CADEC1-761F-064C-8B8E-15DF2DCDA254}"/>
                  </a:ext>
                </a:extLst>
              </p:cNvPr>
              <p:cNvSpPr txBox="1">
                <a:spLocks noRot="1" noChangeAspect="1" noMove="1" noResize="1" noEditPoints="1" noAdjustHandles="1" noChangeArrowheads="1" noChangeShapeType="1" noTextEdit="1"/>
              </p:cNvSpPr>
              <p:nvPr/>
            </p:nvSpPr>
            <p:spPr>
              <a:xfrm>
                <a:off x="707571" y="1436914"/>
                <a:ext cx="7463972" cy="307777"/>
              </a:xfrm>
              <a:prstGeom prst="rect">
                <a:avLst/>
              </a:prstGeom>
              <a:blipFill>
                <a:blip r:embed="rId2"/>
                <a:stretch>
                  <a:fillRect l="-170" t="-104000" b="-16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AF6CB3-3550-FF47-AB62-31D23A6FC658}"/>
                  </a:ext>
                </a:extLst>
              </p:cNvPr>
              <p:cNvSpPr txBox="1"/>
              <p:nvPr/>
            </p:nvSpPr>
            <p:spPr>
              <a:xfrm>
                <a:off x="707571" y="1860804"/>
                <a:ext cx="2630715" cy="411523"/>
              </a:xfrm>
              <a:prstGeom prst="rect">
                <a:avLst/>
              </a:prstGeom>
              <a:noFill/>
            </p:spPr>
            <p:txBody>
              <a:bodyPr wrap="square" rtlCol="0">
                <a:spAutoFit/>
              </a:bodyPr>
              <a:lstStyle/>
              <a:p>
                <a:r>
                  <a:rPr lang="en-US" sz="1400" dirty="0"/>
                  <a:t>Thus, </a:t>
                </a:r>
                <a14:m>
                  <m:oMath xmlns:m="http://schemas.openxmlformats.org/officeDocument/2006/math">
                    <m:r>
                      <a:rPr lang="en-US" sz="1400" b="0" i="1" smtClean="0">
                        <a:latin typeface="Cambria Math" panose="02040503050406030204" pitchFamily="18" charset="0"/>
                      </a:rPr>
                      <m:t>𝑓</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6</m:t>
                        </m:r>
                      </m:den>
                    </m:f>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/6</m:t>
                        </m:r>
                      </m:sup>
                    </m:sSup>
                  </m:oMath>
                </a14:m>
                <a:r>
                  <a:rPr lang="en-US" sz="1400" dirty="0"/>
                  <a:t> in our case.</a:t>
                </a:r>
              </a:p>
            </p:txBody>
          </p:sp>
        </mc:Choice>
        <mc:Fallback xmlns="">
          <p:sp>
            <p:nvSpPr>
              <p:cNvPr id="4" name="TextBox 3">
                <a:extLst>
                  <a:ext uri="{FF2B5EF4-FFF2-40B4-BE49-F238E27FC236}">
                    <a16:creationId xmlns:a16="http://schemas.microsoft.com/office/drawing/2014/main" id="{51AF6CB3-3550-FF47-AB62-31D23A6FC658}"/>
                  </a:ext>
                </a:extLst>
              </p:cNvPr>
              <p:cNvSpPr txBox="1">
                <a:spLocks noRot="1" noChangeAspect="1" noMove="1" noResize="1" noEditPoints="1" noAdjustHandles="1" noChangeArrowheads="1" noChangeShapeType="1" noTextEdit="1"/>
              </p:cNvSpPr>
              <p:nvPr/>
            </p:nvSpPr>
            <p:spPr>
              <a:xfrm>
                <a:off x="707571" y="1860804"/>
                <a:ext cx="2630715" cy="411523"/>
              </a:xfrm>
              <a:prstGeom prst="rect">
                <a:avLst/>
              </a:prstGeom>
              <a:blipFill>
                <a:blip r:embed="rId3"/>
                <a:stretch>
                  <a:fillRect l="-481"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C84976-46CB-9140-8EE2-0BD56D711E72}"/>
                  </a:ext>
                </a:extLst>
              </p:cNvPr>
              <p:cNvSpPr txBox="1"/>
              <p:nvPr/>
            </p:nvSpPr>
            <p:spPr>
              <a:xfrm>
                <a:off x="707571" y="2510972"/>
                <a:ext cx="4818743" cy="1223027"/>
              </a:xfrm>
              <a:prstGeom prst="rect">
                <a:avLst/>
              </a:prstGeom>
              <a:noFill/>
            </p:spPr>
            <p:txBody>
              <a:bodyPr wrap="square" rtlCol="0">
                <a:spAutoFit/>
              </a:bodyPr>
              <a:lstStyle/>
              <a:p>
                <a:r>
                  <a:rPr lang="en-US" sz="1400" dirty="0"/>
                  <a:t>The probability that 10 or more successive dry days occur after a rainstorm is given by:</a:t>
                </a:r>
              </a:p>
              <a:p>
                <a:endParaRPr lang="en-US" sz="1400" dirty="0"/>
              </a:p>
              <a:p>
                <a:pPr/>
                <a14:m>
                  <m:oMathPara xmlns:m="http://schemas.openxmlformats.org/officeDocument/2006/math">
                    <m:oMathParaPr>
                      <m:jc m:val="centerGroup"/>
                    </m:oMathParaPr>
                    <m:oMath xmlns:m="http://schemas.openxmlformats.org/officeDocument/2006/math">
                      <m:nary>
                        <m:naryPr>
                          <m:ctrlPr>
                            <a:rPr lang="en-US" sz="1400" i="1" smtClean="0">
                              <a:latin typeface="Cambria Math" panose="02040503050406030204" pitchFamily="18" charset="0"/>
                            </a:rPr>
                          </m:ctrlPr>
                        </m:naryPr>
                        <m:sub>
                          <m:r>
                            <m:rPr>
                              <m:brk m:alnAt="23"/>
                            </m:rPr>
                            <a:rPr lang="en-US" sz="1400" b="0" i="1" smtClean="0">
                              <a:latin typeface="Cambria Math" panose="02040503050406030204" pitchFamily="18" charset="0"/>
                            </a:rPr>
                            <m:t>1</m:t>
                          </m:r>
                          <m:r>
                            <a:rPr lang="en-US" sz="1400" b="0" i="1" smtClean="0">
                              <a:latin typeface="Cambria Math" panose="02040503050406030204" pitchFamily="18" charset="0"/>
                            </a:rPr>
                            <m:t>0</m:t>
                          </m:r>
                        </m:sub>
                        <m:sup>
                          <m:r>
                            <a:rPr lang="en-US" sz="1400" i="1" smtClean="0">
                              <a:latin typeface="Cambria Math" panose="02040503050406030204" pitchFamily="18" charset="0"/>
                              <a:ea typeface="Cambria Math" panose="02040503050406030204" pitchFamily="18" charset="0"/>
                            </a:rPr>
                            <m:t>∞</m:t>
                          </m:r>
                        </m:sup>
                        <m:e>
                          <m:f>
                            <m:fPr>
                              <m:ctrlPr>
                                <a:rPr lang="en-US" sz="140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6</m:t>
                              </m:r>
                            </m:den>
                          </m:f>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/6</m:t>
                              </m:r>
                            </m:sup>
                          </m:sSup>
                        </m:e>
                      </m:nary>
                      <m:r>
                        <a:rPr lang="en-US" sz="1400" b="0" i="1" smtClean="0">
                          <a:latin typeface="Cambria Math" panose="02040503050406030204" pitchFamily="18" charset="0"/>
                        </a:rPr>
                        <m:t>𝑑𝑥</m:t>
                      </m:r>
                      <m:r>
                        <a:rPr lang="en-US" sz="1400" b="0" i="1" smtClean="0">
                          <a:latin typeface="Cambria Math" panose="02040503050406030204" pitchFamily="18" charset="0"/>
                        </a:rPr>
                        <m:t>=1−</m:t>
                      </m:r>
                      <m:nary>
                        <m:naryPr>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0</m:t>
                          </m:r>
                        </m:sub>
                        <m:sup>
                          <m:r>
                            <a:rPr lang="en-US" sz="1400" b="0" i="1" smtClean="0">
                              <a:latin typeface="Cambria Math" panose="02040503050406030204" pitchFamily="18" charset="0"/>
                            </a:rPr>
                            <m:t>10</m:t>
                          </m:r>
                        </m:sup>
                        <m:e>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6</m:t>
                              </m:r>
                            </m:den>
                          </m:f>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/6</m:t>
                              </m:r>
                            </m:sup>
                          </m:sSup>
                        </m:e>
                      </m:nary>
                      <m:r>
                        <a:rPr lang="en-US" sz="1400" b="0" i="1" smtClean="0">
                          <a:latin typeface="Cambria Math" panose="02040503050406030204" pitchFamily="18" charset="0"/>
                        </a:rPr>
                        <m:t>𝑑𝑥</m:t>
                      </m:r>
                    </m:oMath>
                  </m:oMathPara>
                </a14:m>
                <a:endParaRPr lang="en-US" sz="1400" dirty="0"/>
              </a:p>
            </p:txBody>
          </p:sp>
        </mc:Choice>
        <mc:Fallback xmlns="">
          <p:sp>
            <p:nvSpPr>
              <p:cNvPr id="5" name="TextBox 4">
                <a:extLst>
                  <a:ext uri="{FF2B5EF4-FFF2-40B4-BE49-F238E27FC236}">
                    <a16:creationId xmlns:a16="http://schemas.microsoft.com/office/drawing/2014/main" id="{C4C84976-46CB-9140-8EE2-0BD56D711E72}"/>
                  </a:ext>
                </a:extLst>
              </p:cNvPr>
              <p:cNvSpPr txBox="1">
                <a:spLocks noRot="1" noChangeAspect="1" noMove="1" noResize="1" noEditPoints="1" noAdjustHandles="1" noChangeArrowheads="1" noChangeShapeType="1" noTextEdit="1"/>
              </p:cNvSpPr>
              <p:nvPr/>
            </p:nvSpPr>
            <p:spPr>
              <a:xfrm>
                <a:off x="707571" y="2510972"/>
                <a:ext cx="4818743" cy="1223027"/>
              </a:xfrm>
              <a:prstGeom prst="rect">
                <a:avLst/>
              </a:prstGeom>
              <a:blipFill>
                <a:blip r:embed="rId4"/>
                <a:stretch>
                  <a:fillRect l="-263" t="-16495" b="-101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F95DC8-24A7-2A46-AF13-48EA83F0A302}"/>
                  </a:ext>
                </a:extLst>
              </p:cNvPr>
              <p:cNvSpPr txBox="1"/>
              <p:nvPr/>
            </p:nvSpPr>
            <p:spPr>
              <a:xfrm>
                <a:off x="1652814" y="4421446"/>
                <a:ext cx="2786743" cy="9846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f>
                                <m:fPr>
                                  <m:type m:val="lin"/>
                                  <m:ctrlPr>
                                    <a:rPr lang="en-US" sz="1400" b="0" i="1" smtClean="0">
                                      <a:latin typeface="Cambria Math" panose="02040503050406030204" pitchFamily="18" charset="0"/>
                                    </a:rPr>
                                  </m:ctrlPr>
                                </m:fPr>
                                <m:num>
                                  <m:r>
                                    <a:rPr lang="en-US" sz="1400" b="0" i="1" smtClean="0">
                                      <a:latin typeface="Cambria Math" panose="02040503050406030204" pitchFamily="18" charset="0"/>
                                    </a:rPr>
                                    <m:t>−10</m:t>
                                  </m:r>
                                </m:num>
                                <m:den>
                                  <m:r>
                                    <a:rPr lang="en-US" sz="1400" b="0" i="1" smtClean="0">
                                      <a:latin typeface="Cambria Math" panose="02040503050406030204" pitchFamily="18" charset="0"/>
                                    </a:rPr>
                                    <m:t>6</m:t>
                                  </m:r>
                                </m:den>
                              </m:f>
                            </m:sup>
                          </m:sSup>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0</m:t>
                              </m:r>
                            </m:sup>
                          </m:sSup>
                        </m:e>
                      </m:d>
                    </m:oMath>
                  </m:oMathPara>
                </a14:m>
                <a:endParaRPr lang="en-US" sz="1400" dirty="0"/>
              </a:p>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1−0.8111=0.1889</m:t>
                      </m:r>
                    </m:oMath>
                  </m:oMathPara>
                </a14:m>
                <a:endParaRPr lang="en-US" sz="1400" dirty="0"/>
              </a:p>
              <a:p>
                <a:endParaRPr lang="en-US" sz="1400" dirty="0"/>
              </a:p>
              <a:p>
                <a:pPr algn="ctr"/>
                <a:r>
                  <a:rPr lang="en-US" sz="1400" dirty="0"/>
                  <a:t>(rounded to 4 decimal places)</a:t>
                </a:r>
              </a:p>
            </p:txBody>
          </p:sp>
        </mc:Choice>
        <mc:Fallback xmlns="">
          <p:sp>
            <p:nvSpPr>
              <p:cNvPr id="6" name="TextBox 5">
                <a:extLst>
                  <a:ext uri="{FF2B5EF4-FFF2-40B4-BE49-F238E27FC236}">
                    <a16:creationId xmlns:a16="http://schemas.microsoft.com/office/drawing/2014/main" id="{B0F95DC8-24A7-2A46-AF13-48EA83F0A302}"/>
                  </a:ext>
                </a:extLst>
              </p:cNvPr>
              <p:cNvSpPr txBox="1">
                <a:spLocks noRot="1" noChangeAspect="1" noMove="1" noResize="1" noEditPoints="1" noAdjustHandles="1" noChangeArrowheads="1" noChangeShapeType="1" noTextEdit="1"/>
              </p:cNvSpPr>
              <p:nvPr/>
            </p:nvSpPr>
            <p:spPr>
              <a:xfrm>
                <a:off x="1652814" y="4421446"/>
                <a:ext cx="2786743" cy="984693"/>
              </a:xfrm>
              <a:prstGeom prst="rect">
                <a:avLst/>
              </a:prstGeom>
              <a:blipFill>
                <a:blip r:embed="rId5"/>
                <a:stretch>
                  <a:fillRect t="-20513"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B11B21-CA7D-1046-8228-0F51A0C0130F}"/>
                  </a:ext>
                </a:extLst>
              </p:cNvPr>
              <p:cNvSpPr txBox="1"/>
              <p:nvPr/>
            </p:nvSpPr>
            <p:spPr>
              <a:xfrm>
                <a:off x="7126514" y="2510972"/>
                <a:ext cx="4096657" cy="1240789"/>
              </a:xfrm>
              <a:prstGeom prst="rect">
                <a:avLst/>
              </a:prstGeom>
              <a:noFill/>
            </p:spPr>
            <p:txBody>
              <a:bodyPr wrap="square" rtlCol="0">
                <a:spAutoFit/>
              </a:bodyPr>
              <a:lstStyle/>
              <a:p>
                <a:r>
                  <a:rPr lang="en-US" sz="1400" dirty="0"/>
                  <a:t>The probability that fewer than 2 successive dry days occur after a rainstorm is given by:</a:t>
                </a:r>
              </a:p>
              <a:p>
                <a:endParaRPr lang="en-US" sz="1400" dirty="0"/>
              </a:p>
              <a:p>
                <a:pPr/>
                <a14:m>
                  <m:oMathPara xmlns:m="http://schemas.openxmlformats.org/officeDocument/2006/math">
                    <m:oMathParaPr>
                      <m:jc m:val="centerGroup"/>
                    </m:oMathParaPr>
                    <m:oMath xmlns:m="http://schemas.openxmlformats.org/officeDocument/2006/math">
                      <m:nary>
                        <m:naryPr>
                          <m:ctrlPr>
                            <a:rPr lang="en-US" sz="1400" i="1" smtClean="0">
                              <a:latin typeface="Cambria Math" panose="02040503050406030204" pitchFamily="18" charset="0"/>
                            </a:rPr>
                          </m:ctrlPr>
                        </m:naryPr>
                        <m:sub>
                          <m:r>
                            <m:rPr>
                              <m:brk m:alnAt="23"/>
                            </m:rPr>
                            <a:rPr lang="en-US" sz="1400" b="0" i="1" smtClean="0">
                              <a:latin typeface="Cambria Math" panose="02040503050406030204" pitchFamily="18" charset="0"/>
                            </a:rPr>
                            <m:t>0</m:t>
                          </m:r>
                        </m:sub>
                        <m:sup>
                          <m:r>
                            <a:rPr lang="en-US" sz="1400" b="0" i="1" smtClean="0">
                              <a:latin typeface="Cambria Math" panose="02040503050406030204" pitchFamily="18" charset="0"/>
                            </a:rPr>
                            <m:t>2</m:t>
                          </m:r>
                        </m:sup>
                        <m:e>
                          <m:f>
                            <m:fPr>
                              <m:ctrlPr>
                                <a:rPr lang="en-US" sz="140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6</m:t>
                              </m:r>
                            </m:den>
                          </m:f>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/6</m:t>
                              </m:r>
                            </m:sup>
                          </m:sSup>
                        </m:e>
                      </m:nary>
                      <m:r>
                        <a:rPr lang="en-US" sz="1400" b="0" i="1" smtClean="0">
                          <a:latin typeface="Cambria Math" panose="02040503050406030204" pitchFamily="18" charset="0"/>
                        </a:rPr>
                        <m:t>𝑑𝑥</m:t>
                      </m:r>
                    </m:oMath>
                  </m:oMathPara>
                </a14:m>
                <a:endParaRPr lang="en-US" sz="1400" dirty="0"/>
              </a:p>
            </p:txBody>
          </p:sp>
        </mc:Choice>
        <mc:Fallback xmlns="">
          <p:sp>
            <p:nvSpPr>
              <p:cNvPr id="7" name="TextBox 6">
                <a:extLst>
                  <a:ext uri="{FF2B5EF4-FFF2-40B4-BE49-F238E27FC236}">
                    <a16:creationId xmlns:a16="http://schemas.microsoft.com/office/drawing/2014/main" id="{10B11B21-CA7D-1046-8228-0F51A0C0130F}"/>
                  </a:ext>
                </a:extLst>
              </p:cNvPr>
              <p:cNvSpPr txBox="1">
                <a:spLocks noRot="1" noChangeAspect="1" noMove="1" noResize="1" noEditPoints="1" noAdjustHandles="1" noChangeArrowheads="1" noChangeShapeType="1" noTextEdit="1"/>
              </p:cNvSpPr>
              <p:nvPr/>
            </p:nvSpPr>
            <p:spPr>
              <a:xfrm>
                <a:off x="7126514" y="2510972"/>
                <a:ext cx="4096657" cy="1240789"/>
              </a:xfrm>
              <a:prstGeom prst="rect">
                <a:avLst/>
              </a:prstGeom>
              <a:blipFill>
                <a:blip r:embed="rId6"/>
                <a:stretch>
                  <a:fillRect l="-309" t="-16327" b="-98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115182-7830-9E45-A124-6A650484959E}"/>
                  </a:ext>
                </a:extLst>
              </p:cNvPr>
              <p:cNvSpPr txBox="1"/>
              <p:nvPr/>
            </p:nvSpPr>
            <p:spPr>
              <a:xfrm>
                <a:off x="7910286" y="3991429"/>
                <a:ext cx="3062514" cy="7520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f>
                            <m:fPr>
                              <m:type m:val="lin"/>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6</m:t>
                              </m:r>
                            </m:den>
                          </m:f>
                        </m:sup>
                      </m:sSup>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0</m:t>
                          </m:r>
                        </m:sup>
                      </m:sSup>
                      <m:r>
                        <a:rPr lang="en-US" sz="1400" b="0" i="1" smtClean="0">
                          <a:latin typeface="Cambria Math" panose="02040503050406030204" pitchFamily="18" charset="0"/>
                          <a:ea typeface="Cambria Math" panose="02040503050406030204" pitchFamily="18" charset="0"/>
                        </a:rPr>
                        <m:t>≈0.2835</m:t>
                      </m:r>
                    </m:oMath>
                  </m:oMathPara>
                </a14:m>
                <a:endParaRPr lang="en-US" sz="1400" dirty="0"/>
              </a:p>
              <a:p>
                <a:endParaRPr lang="en-US" sz="1400" dirty="0"/>
              </a:p>
              <a:p>
                <a:pPr algn="ctr"/>
                <a:r>
                  <a:rPr lang="en-US" sz="1400" dirty="0"/>
                  <a:t>(rounded to 4 decimal places)</a:t>
                </a:r>
              </a:p>
            </p:txBody>
          </p:sp>
        </mc:Choice>
        <mc:Fallback xmlns="">
          <p:sp>
            <p:nvSpPr>
              <p:cNvPr id="8" name="TextBox 7">
                <a:extLst>
                  <a:ext uri="{FF2B5EF4-FFF2-40B4-BE49-F238E27FC236}">
                    <a16:creationId xmlns:a16="http://schemas.microsoft.com/office/drawing/2014/main" id="{7A115182-7830-9E45-A124-6A650484959E}"/>
                  </a:ext>
                </a:extLst>
              </p:cNvPr>
              <p:cNvSpPr txBox="1">
                <a:spLocks noRot="1" noChangeAspect="1" noMove="1" noResize="1" noEditPoints="1" noAdjustHandles="1" noChangeArrowheads="1" noChangeShapeType="1" noTextEdit="1"/>
              </p:cNvSpPr>
              <p:nvPr/>
            </p:nvSpPr>
            <p:spPr>
              <a:xfrm>
                <a:off x="7910286" y="3991429"/>
                <a:ext cx="3062514" cy="752001"/>
              </a:xfrm>
              <a:prstGeom prst="rect">
                <a:avLst/>
              </a:prstGeom>
              <a:blipFill>
                <a:blip r:embed="rId7"/>
                <a:stretch>
                  <a:fillRect t="-26667"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1F5EDC-5B44-D543-92E7-0470D9F7872C}"/>
                  </a:ext>
                </a:extLst>
              </p:cNvPr>
              <p:cNvSpPr txBox="1"/>
              <p:nvPr/>
            </p:nvSpPr>
            <p:spPr>
              <a:xfrm>
                <a:off x="1606622" y="3762468"/>
                <a:ext cx="2879125" cy="5716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f>
                                <m:fPr>
                                  <m:type m:val="lin"/>
                                  <m:ctrlPr>
                                    <a:rPr lang="en-US" sz="1400" b="0" i="1" smtClean="0">
                                      <a:latin typeface="Cambria Math" panose="02040503050406030204" pitchFamily="18" charset="0"/>
                                    </a:rPr>
                                  </m:ctrlPr>
                                </m:fPr>
                                <m:num>
                                  <m:r>
                                    <a:rPr lang="en-US" sz="1400" b="0" i="1" smtClean="0">
                                      <a:latin typeface="Cambria Math" panose="02040503050406030204" pitchFamily="18" charset="0"/>
                                    </a:rPr>
                                    <m:t>−</m:t>
                                  </m:r>
                                  <m:r>
                                    <a:rPr lang="en-US" sz="1400" b="0" i="1" smtClean="0">
                                      <a:latin typeface="Cambria Math" panose="02040503050406030204" pitchFamily="18" charset="0"/>
                                    </a:rPr>
                                    <m:t>𝑥</m:t>
                                  </m:r>
                                </m:num>
                                <m:den>
                                  <m:r>
                                    <a:rPr lang="en-US" sz="1400" b="0" i="1" smtClean="0">
                                      <a:latin typeface="Cambria Math" panose="02040503050406030204" pitchFamily="18" charset="0"/>
                                    </a:rPr>
                                    <m:t>6</m:t>
                                  </m:r>
                                </m:den>
                              </m:f>
                            </m:sup>
                          </m:sSup>
                        </m:e>
                      </m:d>
                      <m:d>
                        <m:dPr>
                          <m:begChr m:val="|"/>
                          <m:endChr m:val=""/>
                          <m:ctrlPr>
                            <a:rPr lang="en-US" sz="1400" b="0" i="1" smtClean="0">
                              <a:latin typeface="Cambria Math" panose="02040503050406030204" pitchFamily="18" charset="0"/>
                            </a:rPr>
                          </m:ctrlPr>
                        </m:dPr>
                        <m:e>
                          <m:m>
                            <m:mPr>
                              <m:mcs>
                                <m:mc>
                                  <m:mcPr>
                                    <m:count m:val="1"/>
                                    <m:mcJc m:val="center"/>
                                  </m:mcPr>
                                </m:mc>
                              </m:mcs>
                              <m:ctrlPr>
                                <a:rPr lang="en-US" sz="1400" b="0" i="1" smtClean="0">
                                  <a:latin typeface="Cambria Math" panose="02040503050406030204" pitchFamily="18" charset="0"/>
                                </a:rPr>
                              </m:ctrlPr>
                            </m:mPr>
                            <m:mr>
                              <m:e>
                                <m:r>
                                  <m:rPr>
                                    <m:brk m:alnAt="7"/>
                                  </m:rPr>
                                  <a:rPr lang="en-US" sz="1400" b="0" i="1" smtClean="0">
                                    <a:latin typeface="Cambria Math" panose="02040503050406030204" pitchFamily="18" charset="0"/>
                                  </a:rPr>
                                  <m:t>1</m:t>
                                </m:r>
                                <m:r>
                                  <a:rPr lang="en-US" sz="1400" b="0" i="1" smtClean="0">
                                    <a:latin typeface="Cambria Math" panose="02040503050406030204" pitchFamily="18" charset="0"/>
                                  </a:rPr>
                                  <m:t>0</m:t>
                                </m:r>
                              </m:e>
                            </m:mr>
                            <m:mr>
                              <m:e>
                                <m:r>
                                  <a:rPr lang="en-US" sz="1400" b="0" i="1" smtClean="0">
                                    <a:latin typeface="Cambria Math" panose="02040503050406030204" pitchFamily="18" charset="0"/>
                                  </a:rPr>
                                  <m:t>0</m:t>
                                </m:r>
                              </m:e>
                            </m:mr>
                          </m:m>
                        </m:e>
                      </m:d>
                    </m:oMath>
                  </m:oMathPara>
                </a14:m>
                <a:endParaRPr lang="en-US" sz="1400" dirty="0"/>
              </a:p>
            </p:txBody>
          </p:sp>
        </mc:Choice>
        <mc:Fallback xmlns="">
          <p:sp>
            <p:nvSpPr>
              <p:cNvPr id="9" name="TextBox 8">
                <a:extLst>
                  <a:ext uri="{FF2B5EF4-FFF2-40B4-BE49-F238E27FC236}">
                    <a16:creationId xmlns:a16="http://schemas.microsoft.com/office/drawing/2014/main" id="{D11F5EDC-5B44-D543-92E7-0470D9F7872C}"/>
                  </a:ext>
                </a:extLst>
              </p:cNvPr>
              <p:cNvSpPr txBox="1">
                <a:spLocks noRot="1" noChangeAspect="1" noMove="1" noResize="1" noEditPoints="1" noAdjustHandles="1" noChangeArrowheads="1" noChangeShapeType="1" noTextEdit="1"/>
              </p:cNvSpPr>
              <p:nvPr/>
            </p:nvSpPr>
            <p:spPr>
              <a:xfrm>
                <a:off x="1606622" y="3762468"/>
                <a:ext cx="2879125" cy="571695"/>
              </a:xfrm>
              <a:prstGeom prst="rect">
                <a:avLst/>
              </a:prstGeom>
              <a:blipFill>
                <a:blip r:embed="rId8"/>
                <a:stretch>
                  <a:fillRect t="-176087" b="-258696"/>
                </a:stretch>
              </a:blipFill>
            </p:spPr>
            <p:txBody>
              <a:bodyPr/>
              <a:lstStyle/>
              <a:p>
                <a:r>
                  <a:rPr lang="en-US">
                    <a:noFill/>
                  </a:rPr>
                  <a:t> </a:t>
                </a:r>
              </a:p>
            </p:txBody>
          </p:sp>
        </mc:Fallback>
      </mc:AlternateContent>
    </p:spTree>
    <p:extLst>
      <p:ext uri="{BB962C8B-B14F-4D97-AF65-F5344CB8AC3E}">
        <p14:creationId xmlns:p14="http://schemas.microsoft.com/office/powerpoint/2010/main" val="53711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1437</Words>
  <Application>Microsoft Macintosh PowerPoint</Application>
  <PresentationFormat>Widescreen</PresentationFormat>
  <Paragraphs>123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Theme</vt:lpstr>
      <vt:lpstr>Final Exam Review</vt:lpstr>
      <vt:lpstr>The manager of a restaurant found that the cost to produce 100 cups of coffee is $11.12 , while the cost to produce 500 cups is $50.32. The restaurant sells sells each cup of coffee for $1.50. a. Find a formula for the linear cost function, C(x). b. How many cups must be sold to break even? c. How many cups of coffee must be sold to make a profit of $500?</vt:lpstr>
      <vt:lpstr>The manager of a restaurant found that the cost to produce 100 cups of coffee is $11.12 , while the cost to produce 500 cups is $50.32. The restaurant sells sells each cup of coffee for $1.50. a. Find a formula for the linear cost function, C(x). b. How many cups must be sold to break even? c. How many cups of coffee must be sold to make a profit of $500?</vt:lpstr>
      <vt:lpstr>The manager of a restaurant found that the cost to produce 100 cups of coffee is $11.12 , while the cost to produce 500 cups is $50.32. The restaurant sells sells each cup of coffee for $1.50. a. Find a formula for the linear cost function, C(x). b. How many cups must be sold to break even? c. How many cups of coffee must be sold to make a profit of $500?</vt:lpstr>
      <vt:lpstr>An investment of $77,000 was made by a business club. The investment was split into three parts and lasted for one year. The first part of the investment earned 8% interest, the second 6%, and the third 9%. Total interest from the investments was $5,850. The interest from the first investment was 4 times the interest from the second. Find the amounts of the three parts of the investment.</vt:lpstr>
      <vt:lpstr>A dairy company gets milk from two dairies and then blends the milk to get the desired amount of butterfat. Milk from dairy I costs $2.40 per gallon, and milk from dairy II costs $0.80 per gallon. At most $144 is available for purchasing milk. Dairy I can supply at most 55 gallons averaging 3.7% butterfat, and dairy II can supply at most 90 gallons averaging 2.9% butterfat. How much milk from each supplier should the company buy to get at most 100 gallons of milk with the maximum amount of butterfat? What is the maximum amount of butterfat?</vt:lpstr>
      <vt:lpstr>As part of a weight reduction program, a man designs a monthly exercise program consisting of bicycling, jogging, and swimming. He would like to exercise at most 34 hours, devote at most 8 hours to swimming, and jog for no more than the total number of hours bicycling and swimming. The calories burned by this person per hour by bicycling, jogging, and swimming are 200, 450, and 270, respectively. How many hours should be allotted to each activity to maximize the number of calories burned? What is the maximum number of calories he will burn?</vt:lpstr>
      <vt:lpstr>PowerPoint Presentation</vt:lpstr>
      <vt:lpstr>An arrow is shot upward with a velocity of 64 feet per sec. Its height above the ground after t seconds is given by s(t)=64t-16t^2. Find the velocity and acceleration of the arrow after t seconds. What is the maximum height of the arrow? When does it hit the ground?</vt:lpstr>
      <vt:lpstr>The percentage of people infected by a certain disease t days after it arrives to the city can be approximated by p(t)=13.1te^(-t/3) for 0≤t≤20.  a. When does the percentage of people infected reach a maximum? b. What is the maximum percentage of people infected? c. What is happening to the percentage of people infected as times goes on?</vt:lpstr>
      <vt:lpstr>An oil tanker is leaking oil at a rate given in barrels per hour by the function below, where t is the time in hours after the tanker hits a hidden rock.  L^′ (t)=(80 ln⁡(t+1))/(t+1) </vt:lpstr>
      <vt:lpstr>Researchers have shown that the number of successive dry days that occur after a rainstorm for a particular region is a random variable that is exponentially distributed with a = 1/6. What is the probability that 10 or more successive dry days occur after a rainstorm? What is the probability that fewer than 2 successive dry days occur after a rainstorm?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Exam Review</dc:title>
  <dc:creator>Carrie Dugan</dc:creator>
  <cp:lastModifiedBy>Carrie Dugan</cp:lastModifiedBy>
  <cp:revision>34</cp:revision>
  <dcterms:created xsi:type="dcterms:W3CDTF">2019-02-27T19:38:00Z</dcterms:created>
  <dcterms:modified xsi:type="dcterms:W3CDTF">2019-03-04T20:20:01Z</dcterms:modified>
</cp:coreProperties>
</file>